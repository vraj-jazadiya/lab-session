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 id="2147483839" r:id="rId5"/>
  </p:sldMasterIdLst>
  <p:notesMasterIdLst>
    <p:notesMasterId r:id="rId46"/>
  </p:notesMasterIdLst>
  <p:handoutMasterIdLst>
    <p:handoutMasterId r:id="rId47"/>
  </p:handoutMasterIdLst>
  <p:sldIdLst>
    <p:sldId id="357" r:id="rId6"/>
    <p:sldId id="342" r:id="rId7"/>
    <p:sldId id="343" r:id="rId8"/>
    <p:sldId id="344" r:id="rId9"/>
    <p:sldId id="367" r:id="rId10"/>
    <p:sldId id="362" r:id="rId11"/>
    <p:sldId id="370" r:id="rId12"/>
    <p:sldId id="371" r:id="rId13"/>
    <p:sldId id="372" r:id="rId14"/>
    <p:sldId id="369" r:id="rId15"/>
    <p:sldId id="373" r:id="rId16"/>
    <p:sldId id="374" r:id="rId17"/>
    <p:sldId id="375" r:id="rId18"/>
    <p:sldId id="376" r:id="rId19"/>
    <p:sldId id="381" r:id="rId20"/>
    <p:sldId id="349" r:id="rId21"/>
    <p:sldId id="378" r:id="rId22"/>
    <p:sldId id="379" r:id="rId23"/>
    <p:sldId id="380" r:id="rId24"/>
    <p:sldId id="352" r:id="rId25"/>
    <p:sldId id="382" r:id="rId26"/>
    <p:sldId id="385" r:id="rId27"/>
    <p:sldId id="353" r:id="rId28"/>
    <p:sldId id="383" r:id="rId29"/>
    <p:sldId id="384" r:id="rId30"/>
    <p:sldId id="386" r:id="rId31"/>
    <p:sldId id="358" r:id="rId32"/>
    <p:sldId id="359" r:id="rId33"/>
    <p:sldId id="360" r:id="rId34"/>
    <p:sldId id="361" r:id="rId35"/>
    <p:sldId id="387" r:id="rId36"/>
    <p:sldId id="388" r:id="rId37"/>
    <p:sldId id="389" r:id="rId38"/>
    <p:sldId id="390" r:id="rId39"/>
    <p:sldId id="391" r:id="rId40"/>
    <p:sldId id="392" r:id="rId41"/>
    <p:sldId id="354" r:id="rId42"/>
    <p:sldId id="364" r:id="rId43"/>
    <p:sldId id="366" r:id="rId44"/>
    <p:sldId id="365" r:id="rId4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mn-ea"/>
        <a:cs typeface="+mn-cs"/>
      </a:defRPr>
    </a:lvl1pPr>
    <a:lvl2pPr marL="457200" algn="l" rtl="0" fontAlgn="base">
      <a:spcBef>
        <a:spcPct val="0"/>
      </a:spcBef>
      <a:spcAft>
        <a:spcPct val="0"/>
      </a:spcAft>
      <a:defRPr kern="1200">
        <a:solidFill>
          <a:schemeClr val="tx1"/>
        </a:solidFill>
        <a:latin typeface="Tahoma" pitchFamily="34" charset="0"/>
        <a:ea typeface="+mn-ea"/>
        <a:cs typeface="+mn-cs"/>
      </a:defRPr>
    </a:lvl2pPr>
    <a:lvl3pPr marL="914400" algn="l" rtl="0" fontAlgn="base">
      <a:spcBef>
        <a:spcPct val="0"/>
      </a:spcBef>
      <a:spcAft>
        <a:spcPct val="0"/>
      </a:spcAft>
      <a:defRPr kern="1200">
        <a:solidFill>
          <a:schemeClr val="tx1"/>
        </a:solidFill>
        <a:latin typeface="Tahoma" pitchFamily="34" charset="0"/>
        <a:ea typeface="+mn-ea"/>
        <a:cs typeface="+mn-cs"/>
      </a:defRPr>
    </a:lvl3pPr>
    <a:lvl4pPr marL="1371600" algn="l" rtl="0" fontAlgn="base">
      <a:spcBef>
        <a:spcPct val="0"/>
      </a:spcBef>
      <a:spcAft>
        <a:spcPct val="0"/>
      </a:spcAft>
      <a:defRPr kern="1200">
        <a:solidFill>
          <a:schemeClr val="tx1"/>
        </a:solidFill>
        <a:latin typeface="Tahoma" pitchFamily="34" charset="0"/>
        <a:ea typeface="+mn-ea"/>
        <a:cs typeface="+mn-cs"/>
      </a:defRPr>
    </a:lvl4pPr>
    <a:lvl5pPr marL="1828800" algn="l" rtl="0" fontAlgn="base">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77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2ACDFF-1097-4ACD-A782-B8298FF138E0}" v="3" dt="2021-04-05T14:26:19.914"/>
    <p1510:client id="{766FB41D-B95B-439B-9A06-2210735DFA62}" v="1" dt="2021-04-06T03:27:16.428"/>
    <p1510:client id="{BB87B3FA-9C4A-45C9-A172-84E24473894B}" v="3" dt="2021-04-02T11:07:07.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791" autoAdjust="0"/>
    <p:restoredTop sz="99871" autoAdjust="0"/>
  </p:normalViewPr>
  <p:slideViewPr>
    <p:cSldViewPr snapToGrid="0">
      <p:cViewPr>
        <p:scale>
          <a:sx n="90" d="100"/>
          <a:sy n="90" d="100"/>
        </p:scale>
        <p:origin x="-2262" y="-65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jassimjamalbd" userId="S::mujassimjamalbd_gmail.com#ext#@msubarodauniversity.onmicrosoft.com::e6f60c15-d0a6-4165-811c-40a8f17caa8e" providerId="AD" clId="Web-{BB87B3FA-9C4A-45C9-A172-84E24473894B}"/>
    <pc:docChg chg="modSld">
      <pc:chgData name="mujassimjamalbd" userId="S::mujassimjamalbd_gmail.com#ext#@msubarodauniversity.onmicrosoft.com::e6f60c15-d0a6-4165-811c-40a8f17caa8e" providerId="AD" clId="Web-{BB87B3FA-9C4A-45C9-A172-84E24473894B}" dt="2021-04-02T11:07:00.469" v="0" actId="20577"/>
      <pc:docMkLst>
        <pc:docMk/>
      </pc:docMkLst>
      <pc:sldChg chg="modSp">
        <pc:chgData name="mujassimjamalbd" userId="S::mujassimjamalbd_gmail.com#ext#@msubarodauniversity.onmicrosoft.com::e6f60c15-d0a6-4165-811c-40a8f17caa8e" providerId="AD" clId="Web-{BB87B3FA-9C4A-45C9-A172-84E24473894B}" dt="2021-04-02T11:07:00.469" v="0" actId="20577"/>
        <pc:sldMkLst>
          <pc:docMk/>
          <pc:sldMk cId="0" sldId="362"/>
        </pc:sldMkLst>
        <pc:spChg chg="mod">
          <ac:chgData name="mujassimjamalbd" userId="S::mujassimjamalbd_gmail.com#ext#@msubarodauniversity.onmicrosoft.com::e6f60c15-d0a6-4165-811c-40a8f17caa8e" providerId="AD" clId="Web-{BB87B3FA-9C4A-45C9-A172-84E24473894B}" dt="2021-04-02T11:07:00.469" v="0" actId="20577"/>
          <ac:spMkLst>
            <pc:docMk/>
            <pc:sldMk cId="0" sldId="362"/>
            <ac:spMk id="3" creationId="{00000000-0000-0000-0000-000000000000}"/>
          </ac:spMkLst>
        </pc:spChg>
      </pc:sldChg>
    </pc:docChg>
  </pc:docChgLst>
  <pc:docChgLst>
    <pc:chgData name="vaishnavi192002" userId="S::vaishnavi192002_gmail.com#ext#@msubarodauniversity.onmicrosoft.com::9447b32b-2f3c-46df-8fec-4c9755f46eef" providerId="AD" clId="Web-{6C2ACDFF-1097-4ACD-A782-B8298FF138E0}"/>
    <pc:docChg chg="modSld">
      <pc:chgData name="vaishnavi192002" userId="S::vaishnavi192002_gmail.com#ext#@msubarodauniversity.onmicrosoft.com::9447b32b-2f3c-46df-8fec-4c9755f46eef" providerId="AD" clId="Web-{6C2ACDFF-1097-4ACD-A782-B8298FF138E0}" dt="2021-04-05T14:26:19.914" v="2"/>
      <pc:docMkLst>
        <pc:docMk/>
      </pc:docMkLst>
      <pc:sldChg chg="addSp delSp modSp">
        <pc:chgData name="vaishnavi192002" userId="S::vaishnavi192002_gmail.com#ext#@msubarodauniversity.onmicrosoft.com::9447b32b-2f3c-46df-8fec-4c9755f46eef" providerId="AD" clId="Web-{6C2ACDFF-1097-4ACD-A782-B8298FF138E0}" dt="2021-04-05T14:26:19.914" v="2"/>
        <pc:sldMkLst>
          <pc:docMk/>
          <pc:sldMk cId="0" sldId="364"/>
        </pc:sldMkLst>
        <pc:picChg chg="add del mod">
          <ac:chgData name="vaishnavi192002" userId="S::vaishnavi192002_gmail.com#ext#@msubarodauniversity.onmicrosoft.com::9447b32b-2f3c-46df-8fec-4c9755f46eef" providerId="AD" clId="Web-{6C2ACDFF-1097-4ACD-A782-B8298FF138E0}" dt="2021-04-05T14:26:19.914" v="2"/>
          <ac:picMkLst>
            <pc:docMk/>
            <pc:sldMk cId="0" sldId="364"/>
            <ac:picMk id="49154" creationId="{00000000-0000-0000-0000-000000000000}"/>
          </ac:picMkLst>
        </pc:picChg>
      </pc:sldChg>
    </pc:docChg>
  </pc:docChgLst>
  <pc:docChgLst>
    <pc:chgData name="kalsariya.parthiv18" userId="S::kalsariya.parthiv18_gmail.com#ext#@msubarodauniversity.onmicrosoft.com::9c0b948b-d039-46ad-98a0-d026185f5e21" providerId="AD" clId="Web-{F4E47559-AA55-46C9-A6CE-9DD62A9BB3D3}"/>
    <pc:docChg chg="modSld">
      <pc:chgData name="kalsariya.parthiv18" userId="S::kalsariya.parthiv18_gmail.com#ext#@msubarodauniversity.onmicrosoft.com::9c0b948b-d039-46ad-98a0-d026185f5e21" providerId="AD" clId="Web-{F4E47559-AA55-46C9-A6CE-9DD62A9BB3D3}" dt="2021-04-07T07:01:57.719" v="0" actId="1076"/>
      <pc:docMkLst>
        <pc:docMk/>
      </pc:docMkLst>
      <pc:sldChg chg="modSp">
        <pc:chgData name="kalsariya.parthiv18" userId="S::kalsariya.parthiv18_gmail.com#ext#@msubarodauniversity.onmicrosoft.com::9c0b948b-d039-46ad-98a0-d026185f5e21" providerId="AD" clId="Web-{F4E47559-AA55-46C9-A6CE-9DD62A9BB3D3}" dt="2021-04-07T07:01:57.719" v="0" actId="1076"/>
        <pc:sldMkLst>
          <pc:docMk/>
          <pc:sldMk cId="0" sldId="344"/>
        </pc:sldMkLst>
        <pc:graphicFrameChg chg="mod">
          <ac:chgData name="kalsariya.parthiv18" userId="S::kalsariya.parthiv18_gmail.com#ext#@msubarodauniversity.onmicrosoft.com::9c0b948b-d039-46ad-98a0-d026185f5e21" providerId="AD" clId="Web-{F4E47559-AA55-46C9-A6CE-9DD62A9BB3D3}" dt="2021-04-07T07:01:57.719" v="0" actId="1076"/>
          <ac:graphicFrameMkLst>
            <pc:docMk/>
            <pc:sldMk cId="0" sldId="344"/>
            <ac:graphicFrameMk id="1026" creationId="{00000000-0000-0000-0000-000000000000}"/>
          </ac:graphicFrameMkLst>
        </pc:graphicFrameChg>
      </pc:sldChg>
    </pc:docChg>
  </pc:docChgLst>
  <pc:docChgLst>
    <pc:chgData name="chauhantejas18" userId="S::chauhantejas18_gmail.com#ext#@msubarodauniversity.onmicrosoft.com::692418df-cbfc-492c-bd92-911de2bd4fc8" providerId="AD" clId="Web-{766FB41D-B95B-439B-9A06-2210735DFA62}"/>
    <pc:docChg chg="modSld">
      <pc:chgData name="chauhantejas18" userId="S::chauhantejas18_gmail.com#ext#@msubarodauniversity.onmicrosoft.com::692418df-cbfc-492c-bd92-911de2bd4fc8" providerId="AD" clId="Web-{766FB41D-B95B-439B-9A06-2210735DFA62}" dt="2021-04-06T03:27:16.428" v="2" actId="14100"/>
      <pc:docMkLst>
        <pc:docMk/>
      </pc:docMkLst>
      <pc:sldChg chg="modSp">
        <pc:chgData name="chauhantejas18" userId="S::chauhantejas18_gmail.com#ext#@msubarodauniversity.onmicrosoft.com::692418df-cbfc-492c-bd92-911de2bd4fc8" providerId="AD" clId="Web-{766FB41D-B95B-439B-9A06-2210735DFA62}" dt="2021-04-06T03:25:31.594" v="1" actId="1076"/>
        <pc:sldMkLst>
          <pc:docMk/>
          <pc:sldMk cId="0" sldId="344"/>
        </pc:sldMkLst>
        <pc:graphicFrameChg chg="mod">
          <ac:chgData name="chauhantejas18" userId="S::chauhantejas18_gmail.com#ext#@msubarodauniversity.onmicrosoft.com::692418df-cbfc-492c-bd92-911de2bd4fc8" providerId="AD" clId="Web-{766FB41D-B95B-439B-9A06-2210735DFA62}" dt="2021-04-06T03:25:31.594" v="1" actId="1076"/>
          <ac:graphicFrameMkLst>
            <pc:docMk/>
            <pc:sldMk cId="0" sldId="344"/>
            <ac:graphicFrameMk id="1026" creationId="{00000000-0000-0000-0000-000000000000}"/>
          </ac:graphicFrameMkLst>
        </pc:graphicFrameChg>
      </pc:sldChg>
      <pc:sldChg chg="modSp">
        <pc:chgData name="chauhantejas18" userId="S::chauhantejas18_gmail.com#ext#@msubarodauniversity.onmicrosoft.com::692418df-cbfc-492c-bd92-911de2bd4fc8" providerId="AD" clId="Web-{766FB41D-B95B-439B-9A06-2210735DFA62}" dt="2021-04-06T03:27:16.428" v="2" actId="14100"/>
        <pc:sldMkLst>
          <pc:docMk/>
          <pc:sldMk cId="0" sldId="347"/>
        </pc:sldMkLst>
        <pc:picChg chg="mod">
          <ac:chgData name="chauhantejas18" userId="S::chauhantejas18_gmail.com#ext#@msubarodauniversity.onmicrosoft.com::692418df-cbfc-492c-bd92-911de2bd4fc8" providerId="AD" clId="Web-{766FB41D-B95B-439B-9A06-2210735DFA62}" dt="2021-04-06T03:27:16.428" v="2" actId="14100"/>
          <ac:picMkLst>
            <pc:docMk/>
            <pc:sldMk cId="0" sldId="347"/>
            <ac:picMk id="22531" creationId="{00000000-0000-0000-0000-000000000000}"/>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1566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566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1566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7C21F6A8-03F4-417B-9198-9A238CBBE11F}" type="slidenum">
              <a:rPr lang="en-US"/>
              <a:pPr>
                <a:defRPr/>
              </a:pPr>
              <a:t>‹#›</a:t>
            </a:fld>
            <a:endParaRPr lang="en-US"/>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1054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54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54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1054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2BA7ABDF-1D95-4D7E-B031-4FB9CFEF72C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B850BBF2-7AEC-41E1-BED2-D80A47555CB5}" type="slidenum">
              <a:rPr lang="en-GB" smtClean="0"/>
              <a:pPr/>
              <a:t>2</a:t>
            </a:fld>
            <a:endParaRPr lang="en-GB"/>
          </a:p>
        </p:txBody>
      </p:sp>
      <p:sp>
        <p:nvSpPr>
          <p:cNvPr id="29699" name="Rectangle 2"/>
          <p:cNvSpPr>
            <a:spLocks noGrp="1" noRot="1" noChangeAspect="1" noChangeArrowheads="1" noTextEdit="1"/>
          </p:cNvSpPr>
          <p:nvPr>
            <p:ph type="sldImg"/>
          </p:nvPr>
        </p:nvSpPr>
        <p:spPr>
          <a:xfrm>
            <a:off x="0" y="0"/>
            <a:ext cx="1144588" cy="858838"/>
          </a:xfrm>
          <a:ln/>
        </p:spPr>
      </p:sp>
      <p:sp>
        <p:nvSpPr>
          <p:cNvPr id="29700" name="Rectangle 3"/>
          <p:cNvSpPr>
            <a:spLocks noGrp="1" noChangeArrowheads="1"/>
          </p:cNvSpPr>
          <p:nvPr>
            <p:ph type="body" idx="1"/>
          </p:nvPr>
        </p:nvSpPr>
        <p:spPr>
          <a:xfrm>
            <a:off x="1371600" y="304800"/>
            <a:ext cx="5029200" cy="7848600"/>
          </a:xfrm>
          <a:noFill/>
          <a:ln/>
        </p:spPr>
        <p:txBody>
          <a:bodyPr/>
          <a:lstStyle/>
          <a:p>
            <a:r>
              <a:rPr lang="en-US"/>
              <a:t>Describes activities and flows of data or decisions between activities</a:t>
            </a:r>
          </a:p>
          <a:p>
            <a:r>
              <a:rPr lang="en-US"/>
              <a:t>Provides a very broad view of business processes</a:t>
            </a:r>
          </a:p>
          <a:p>
            <a:r>
              <a:rPr lang="en-US"/>
              <a:t>Can be used to break out the activities that occur within a use case</a:t>
            </a:r>
          </a:p>
          <a:p>
            <a:r>
              <a:rPr lang="en-US"/>
              <a:t>Commonly shows many different activities that will be handled by lots of different symbols</a:t>
            </a:r>
          </a:p>
          <a:p>
            <a:r>
              <a:rPr lang="en-US"/>
              <a:t>Good for showing parallel threads</a:t>
            </a:r>
          </a:p>
          <a:p>
            <a:endParaRPr lang="en-US"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D5C6EDF-9AB3-4BCD-8B57-5CCFA8E48D79}" type="slidenum">
              <a:rPr lang="en-GB" smtClean="0"/>
              <a:pPr/>
              <a:t>3</a:t>
            </a:fld>
            <a:endParaRPr lang="en-GB"/>
          </a:p>
        </p:txBody>
      </p:sp>
      <p:sp>
        <p:nvSpPr>
          <p:cNvPr id="30723" name="Rectangle 2"/>
          <p:cNvSpPr>
            <a:spLocks noGrp="1" noRot="1" noChangeAspect="1" noChangeArrowheads="1" noTextEdit="1"/>
          </p:cNvSpPr>
          <p:nvPr>
            <p:ph type="sldImg"/>
          </p:nvPr>
        </p:nvSpPr>
        <p:spPr>
          <a:xfrm>
            <a:off x="0" y="0"/>
            <a:ext cx="1144588" cy="858838"/>
          </a:xfrm>
          <a:ln/>
        </p:spPr>
      </p:sp>
      <p:sp>
        <p:nvSpPr>
          <p:cNvPr id="30724"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4D61C0D0-0D5A-4ED3-8FBB-FB2DB2E3E89B}" type="slidenum">
              <a:rPr lang="en-GB" smtClean="0"/>
              <a:pPr/>
              <a:t>4</a:t>
            </a:fld>
            <a:endParaRPr lang="en-GB"/>
          </a:p>
        </p:txBody>
      </p:sp>
      <p:sp>
        <p:nvSpPr>
          <p:cNvPr id="31747" name="Rectangle 2"/>
          <p:cNvSpPr>
            <a:spLocks noGrp="1" noRot="1" noChangeAspect="1" noChangeArrowheads="1" noTextEdit="1"/>
          </p:cNvSpPr>
          <p:nvPr>
            <p:ph type="sldImg"/>
          </p:nvPr>
        </p:nvSpPr>
        <p:spPr>
          <a:xfrm>
            <a:off x="0" y="0"/>
            <a:ext cx="1144588" cy="858838"/>
          </a:xfrm>
          <a:ln/>
        </p:spPr>
      </p:sp>
      <p:sp>
        <p:nvSpPr>
          <p:cNvPr id="31748" name="Rectangle 3"/>
          <p:cNvSpPr>
            <a:spLocks noGrp="1" noChangeArrowheads="1"/>
          </p:cNvSpPr>
          <p:nvPr>
            <p:ph type="body" idx="1"/>
          </p:nvPr>
        </p:nvSpPr>
        <p:spPr>
          <a:xfrm>
            <a:off x="1371600" y="304800"/>
            <a:ext cx="5029200" cy="7848600"/>
          </a:xfrm>
          <a:noFill/>
          <a:ln/>
        </p:spPr>
        <p:txBody>
          <a:bodyPr/>
          <a:lstStyle/>
          <a:p>
            <a:r>
              <a:rPr lang="en-GB" b="1"/>
              <a:t>Action state</a:t>
            </a:r>
            <a:r>
              <a:rPr lang="en-GB"/>
              <a:t>:</a:t>
            </a:r>
          </a:p>
          <a:p>
            <a:pPr>
              <a:buFontTx/>
              <a:buChar char="•"/>
            </a:pPr>
            <a:r>
              <a:rPr lang="en-GB"/>
              <a:t>In a conceptual diagram an activity is a task that needs to be done – either by a human or a computer</a:t>
            </a:r>
          </a:p>
          <a:p>
            <a:pPr>
              <a:buFontTx/>
              <a:buChar char="•"/>
            </a:pPr>
            <a:r>
              <a:rPr lang="en-GB"/>
              <a:t>In a specification-perspective diagram or an implementation-diagram, an activity is a method on a class</a:t>
            </a:r>
          </a:p>
          <a:p>
            <a:r>
              <a:rPr lang="en-GB" b="1"/>
              <a:t>State transition</a:t>
            </a:r>
          </a:p>
          <a:p>
            <a:r>
              <a:rPr lang="en-GB"/>
              <a:t>In an activity diagram the states are activities representing the performance of operations. The transitions are triggered by the completion of the operations.</a:t>
            </a:r>
          </a:p>
          <a:p>
            <a:r>
              <a:rPr lang="en-GB"/>
              <a:t>A transition is a relationship between two states. This transition indicates that control is passed from the first state of the second state once the work of the source state is complete.</a:t>
            </a:r>
          </a:p>
          <a:p>
            <a:r>
              <a:rPr lang="en-GB"/>
              <a:t>The emphasized functional flow of control, transitions can be labelled, and contain parameters, guard conditions and action expressions.</a:t>
            </a:r>
          </a:p>
          <a:p>
            <a:r>
              <a:rPr lang="en-GB" b="1"/>
              <a:t>Initial state</a:t>
            </a:r>
            <a:endParaRPr lang="en-GB"/>
          </a:p>
          <a:p>
            <a:r>
              <a:rPr lang="en-GB"/>
              <a:t>A pseudo state to establish the start of the event into an actual state.</a:t>
            </a:r>
          </a:p>
          <a:p>
            <a:r>
              <a:rPr lang="en-GB" b="1"/>
              <a:t>Final state</a:t>
            </a:r>
            <a:endParaRPr lang="en-GB"/>
          </a:p>
          <a:p>
            <a:r>
              <a:rPr lang="en-GB"/>
              <a:t>Signifies when a state transition ends.</a:t>
            </a:r>
          </a:p>
          <a:p>
            <a:r>
              <a:rPr lang="en-GB" b="1"/>
              <a:t>Decision </a:t>
            </a:r>
            <a:endParaRPr lang="en-GB"/>
          </a:p>
          <a:p>
            <a:r>
              <a:rPr lang="en-GB"/>
              <a:t>As in a flowchart, a conditional flow of control is modelled using the decision element. A decision is shown by labelling each output transition of a decision with a different guard condition.</a:t>
            </a:r>
          </a:p>
          <a:p>
            <a:r>
              <a:rPr lang="en-GB" b="1"/>
              <a:t>SwimLane</a:t>
            </a:r>
          </a:p>
          <a:p>
            <a:r>
              <a:rPr lang="en-GB"/>
              <a:t>It is a “package” for organizing activities within a class. Each zone or lane represents the responsibilities of a particular class or department. Swimlanes depict both the activity diagram’s logic along with the depiction (voorstelling,beschrijving) of responsibility. To use swimlanes, you must arrange your activity diagrams into vertical zones separated by dashed lines. Transitions may cross swimlane boundaries.</a:t>
            </a:r>
          </a:p>
          <a:p>
            <a:r>
              <a:rPr lang="en-GB" b="1"/>
              <a:t>Merge Branch bar</a:t>
            </a:r>
            <a:endParaRPr lang="en-GB"/>
          </a:p>
          <a:p>
            <a:r>
              <a:rPr lang="en-GB"/>
              <a:t>The merge branch bar symbol is also known as a “synchronization bar”. It merges concurrent transitions to a single target. It splits a single transition into parallel transitions.</a:t>
            </a:r>
          </a:p>
          <a:p>
            <a:endParaRPr lang="en-GB" b="1"/>
          </a:p>
          <a:p>
            <a:endParaRPr lang="en-GB" b="1"/>
          </a:p>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79A00DE7-C353-4CFB-A651-4F3C1E364101}" type="slidenum">
              <a:rPr lang="en-GB" smtClean="0"/>
              <a:pPr/>
              <a:t>16</a:t>
            </a:fld>
            <a:endParaRPr lang="en-GB"/>
          </a:p>
        </p:txBody>
      </p:sp>
      <p:sp>
        <p:nvSpPr>
          <p:cNvPr id="36867" name="Rectangle 2"/>
          <p:cNvSpPr>
            <a:spLocks noGrp="1" noRot="1" noChangeAspect="1" noChangeArrowheads="1" noTextEdit="1"/>
          </p:cNvSpPr>
          <p:nvPr>
            <p:ph type="sldImg"/>
          </p:nvPr>
        </p:nvSpPr>
        <p:spPr>
          <a:xfrm>
            <a:off x="0" y="0"/>
            <a:ext cx="1144588" cy="858838"/>
          </a:xfrm>
          <a:ln/>
        </p:spPr>
      </p:sp>
      <p:sp>
        <p:nvSpPr>
          <p:cNvPr id="36868"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490B3EF7-2544-4D56-9B3D-FEA1A7C46AC9}" type="slidenum">
              <a:rPr lang="en-GB" smtClean="0"/>
              <a:pPr/>
              <a:t>17</a:t>
            </a:fld>
            <a:endParaRPr lang="en-GB"/>
          </a:p>
        </p:txBody>
      </p:sp>
      <p:sp>
        <p:nvSpPr>
          <p:cNvPr id="33795" name="Rectangle 2"/>
          <p:cNvSpPr>
            <a:spLocks noGrp="1" noRot="1" noChangeAspect="1" noChangeArrowheads="1" noTextEdit="1"/>
          </p:cNvSpPr>
          <p:nvPr>
            <p:ph type="sldImg"/>
          </p:nvPr>
        </p:nvSpPr>
        <p:spPr>
          <a:xfrm>
            <a:off x="0" y="0"/>
            <a:ext cx="1144588" cy="858838"/>
          </a:xfrm>
          <a:ln/>
        </p:spPr>
      </p:sp>
      <p:sp>
        <p:nvSpPr>
          <p:cNvPr id="33796" name="Rectangle 3"/>
          <p:cNvSpPr>
            <a:spLocks noGrp="1" noChangeArrowheads="1"/>
          </p:cNvSpPr>
          <p:nvPr>
            <p:ph type="body" idx="1"/>
          </p:nvPr>
        </p:nvSpPr>
        <p:spPr>
          <a:xfrm>
            <a:off x="1371600" y="304800"/>
            <a:ext cx="5029200" cy="7848600"/>
          </a:xfrm>
          <a:noFill/>
          <a:ln/>
        </p:spPr>
        <p:txBody>
          <a:bodyPr/>
          <a:lstStyle/>
          <a:p>
            <a:r>
              <a:rPr lang="en-US"/>
              <a:t>Guards should therefore not overlap but cover all possibilities.</a:t>
            </a:r>
          </a:p>
          <a:p>
            <a:r>
              <a:rPr lang="en-US"/>
              <a:t>You can label one transition with [else]; if all other guards elate to false, then the [else] transition is taken.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BA18531-E36E-4E79-880C-CF1E51EBAE37}" type="slidenum">
              <a:rPr lang="en-GB" smtClean="0"/>
              <a:pPr/>
              <a:t>20</a:t>
            </a:fld>
            <a:endParaRPr lang="en-GB"/>
          </a:p>
        </p:txBody>
      </p:sp>
      <p:sp>
        <p:nvSpPr>
          <p:cNvPr id="38915" name="Rectangle 2"/>
          <p:cNvSpPr>
            <a:spLocks noGrp="1" noRot="1" noChangeAspect="1" noChangeArrowheads="1" noTextEdit="1"/>
          </p:cNvSpPr>
          <p:nvPr>
            <p:ph type="sldImg"/>
          </p:nvPr>
        </p:nvSpPr>
        <p:spPr>
          <a:xfrm>
            <a:off x="0" y="0"/>
            <a:ext cx="1144588" cy="858838"/>
          </a:xfrm>
          <a:ln/>
        </p:spPr>
      </p:sp>
      <p:sp>
        <p:nvSpPr>
          <p:cNvPr id="38916"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BA18531-E36E-4E79-880C-CF1E51EBAE37}" type="slidenum">
              <a:rPr lang="en-GB" smtClean="0"/>
              <a:pPr/>
              <a:t>21</a:t>
            </a:fld>
            <a:endParaRPr lang="en-GB"/>
          </a:p>
        </p:txBody>
      </p:sp>
      <p:sp>
        <p:nvSpPr>
          <p:cNvPr id="38915" name="Rectangle 2"/>
          <p:cNvSpPr>
            <a:spLocks noGrp="1" noRot="1" noChangeAspect="1" noChangeArrowheads="1" noTextEdit="1"/>
          </p:cNvSpPr>
          <p:nvPr>
            <p:ph type="sldImg"/>
          </p:nvPr>
        </p:nvSpPr>
        <p:spPr>
          <a:xfrm>
            <a:off x="0" y="0"/>
            <a:ext cx="1144588" cy="858838"/>
          </a:xfrm>
          <a:ln/>
        </p:spPr>
      </p:sp>
      <p:sp>
        <p:nvSpPr>
          <p:cNvPr id="38916"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EF110460-4561-43CD-A3BA-6FC9695E708D}" type="slidenum">
              <a:rPr lang="en-GB" smtClean="0"/>
              <a:pPr/>
              <a:t>23</a:t>
            </a:fld>
            <a:endParaRPr lang="en-GB"/>
          </a:p>
        </p:txBody>
      </p:sp>
      <p:sp>
        <p:nvSpPr>
          <p:cNvPr id="39939" name="Rectangle 2"/>
          <p:cNvSpPr>
            <a:spLocks noGrp="1" noRot="1" noChangeAspect="1" noChangeArrowheads="1" noTextEdit="1"/>
          </p:cNvSpPr>
          <p:nvPr>
            <p:ph type="sldImg"/>
          </p:nvPr>
        </p:nvSpPr>
        <p:spPr>
          <a:xfrm>
            <a:off x="0" y="0"/>
            <a:ext cx="1144588" cy="858838"/>
          </a:xfrm>
          <a:ln/>
        </p:spPr>
      </p:sp>
      <p:sp>
        <p:nvSpPr>
          <p:cNvPr id="39940"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490B3EF7-2544-4D56-9B3D-FEA1A7C46AC9}" type="slidenum">
              <a:rPr lang="en-GB" smtClean="0"/>
              <a:pPr/>
              <a:t>24</a:t>
            </a:fld>
            <a:endParaRPr lang="en-GB"/>
          </a:p>
        </p:txBody>
      </p:sp>
      <p:sp>
        <p:nvSpPr>
          <p:cNvPr id="33795" name="Rectangle 2"/>
          <p:cNvSpPr>
            <a:spLocks noGrp="1" noRot="1" noChangeAspect="1" noChangeArrowheads="1" noTextEdit="1"/>
          </p:cNvSpPr>
          <p:nvPr>
            <p:ph type="sldImg"/>
          </p:nvPr>
        </p:nvSpPr>
        <p:spPr>
          <a:xfrm>
            <a:off x="0" y="0"/>
            <a:ext cx="1144588" cy="858838"/>
          </a:xfrm>
          <a:ln/>
        </p:spPr>
      </p:sp>
      <p:sp>
        <p:nvSpPr>
          <p:cNvPr id="33796" name="Rectangle 3"/>
          <p:cNvSpPr>
            <a:spLocks noGrp="1" noChangeArrowheads="1"/>
          </p:cNvSpPr>
          <p:nvPr>
            <p:ph type="body" idx="1"/>
          </p:nvPr>
        </p:nvSpPr>
        <p:spPr>
          <a:xfrm>
            <a:off x="1371600" y="304800"/>
            <a:ext cx="5029200" cy="7848600"/>
          </a:xfrm>
          <a:noFill/>
          <a:ln/>
        </p:spPr>
        <p:txBody>
          <a:bodyPr/>
          <a:lstStyle/>
          <a:p>
            <a:r>
              <a:rPr lang="en-US"/>
              <a:t>Guards should therefore not overlap but cover all possibilities.</a:t>
            </a:r>
          </a:p>
          <a:p>
            <a:r>
              <a:rPr lang="en-US"/>
              <a:t>You can label one transition with [else]; if all other guards elate to false, then the [else] transition is taken.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D232D7B7-B9D3-4E70-8543-E50AC44163D7}" type="slidenum">
              <a:rPr lang="en-GB" smtClean="0"/>
              <a:pPr/>
              <a:t>25</a:t>
            </a:fld>
            <a:endParaRPr lang="en-GB"/>
          </a:p>
        </p:txBody>
      </p:sp>
      <p:sp>
        <p:nvSpPr>
          <p:cNvPr id="34819" name="Rectangle 2"/>
          <p:cNvSpPr>
            <a:spLocks noGrp="1" noRot="1" noChangeAspect="1" noChangeArrowheads="1" noTextEdit="1"/>
          </p:cNvSpPr>
          <p:nvPr>
            <p:ph type="sldImg"/>
          </p:nvPr>
        </p:nvSpPr>
        <p:spPr>
          <a:xfrm>
            <a:off x="0" y="0"/>
            <a:ext cx="1144588" cy="858838"/>
          </a:xfrm>
          <a:ln/>
        </p:spPr>
      </p:sp>
      <p:sp>
        <p:nvSpPr>
          <p:cNvPr id="34820"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B58CFCAD-1CC3-4ABD-892C-045D3289F54B}" type="slidenum">
              <a:rPr lang="en-GB" smtClean="0"/>
              <a:pPr/>
              <a:t>37</a:t>
            </a:fld>
            <a:endParaRPr lang="en-GB"/>
          </a:p>
        </p:txBody>
      </p:sp>
      <p:sp>
        <p:nvSpPr>
          <p:cNvPr id="40963" name="Rectangle 2"/>
          <p:cNvSpPr>
            <a:spLocks noGrp="1" noRot="1" noChangeAspect="1" noChangeArrowheads="1" noTextEdit="1"/>
          </p:cNvSpPr>
          <p:nvPr>
            <p:ph type="sldImg"/>
          </p:nvPr>
        </p:nvSpPr>
        <p:spPr>
          <a:xfrm>
            <a:off x="0" y="0"/>
            <a:ext cx="1144588" cy="858838"/>
          </a:xfrm>
          <a:ln/>
        </p:spPr>
      </p:sp>
      <p:sp>
        <p:nvSpPr>
          <p:cNvPr id="40964" name="Rectangle 3"/>
          <p:cNvSpPr>
            <a:spLocks noGrp="1" noChangeArrowheads="1"/>
          </p:cNvSpPr>
          <p:nvPr>
            <p:ph type="body" idx="1"/>
          </p:nvPr>
        </p:nvSpPr>
        <p:spPr>
          <a:xfrm>
            <a:off x="1371600" y="304800"/>
            <a:ext cx="5029200" cy="7848600"/>
          </a:xfrm>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eaLnBrk="0" hangingPunct="0">
                  <a:defRPr/>
                </a:pPr>
                <a:endParaRPr lang="en-US">
                  <a:latin typeface="Tahoma"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0" hangingPunct="0">
                  <a:defRPr/>
                </a:pPr>
                <a:endParaRPr lang="en-US">
                  <a:latin typeface="Tahoma" charset="0"/>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eaLnBrk="0" hangingPunct="0">
                  <a:defRPr/>
                </a:pPr>
                <a:endParaRPr lang="en-US">
                  <a:latin typeface="Tahoma"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0" hangingPunct="0">
                  <a:defRPr/>
                </a:pPr>
                <a:endParaRPr lang="en-US">
                  <a:latin typeface="Tahoma"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0" hangingPunct="0">
                <a:defRPr/>
              </a:pPr>
              <a:endParaRPr lang="en-US">
                <a:latin typeface="Tahoma" charset="0"/>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eaLnBrk="0" hangingPunct="0">
                <a:defRPr/>
              </a:pPr>
              <a:endParaRPr lang="en-US">
                <a:latin typeface="Tahoma"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0" hangingPunct="0">
                <a:defRPr/>
              </a:pPr>
              <a:endParaRPr lang="en-US">
                <a:latin typeface="Tahoma" charset="0"/>
              </a:endParaRPr>
            </a:p>
          </p:txBody>
        </p:sp>
      </p:grpSp>
      <p:sp>
        <p:nvSpPr>
          <p:cNvPr id="8193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8193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2C70F7DC-1E05-46B8-8C83-A2994EDCE41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E0405779-062B-472F-B541-E532B2745C8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38FC8751-264E-44A0-9FEB-7E36D3D660E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066800"/>
            <a:ext cx="3905250" cy="5065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48250" y="1066800"/>
            <a:ext cx="3906838" cy="5065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23D91CBE-62B2-45EA-869C-60B8C271C97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pPr>
              <a:defRPr/>
            </a:pPr>
            <a:fld id="{386825BA-C410-4513-A5E9-7FEEE12898A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954E6D03-8D1A-4B7E-A5BE-59C1FD15CC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1109AEB8-5BB6-4DB0-A227-07E8F160DAF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45F830F7-4075-4C1A-A4DB-A0CB7A03A35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EC318F78-BEE2-40E5-B459-A05B07855D0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D50F746A-589C-498F-AE91-2FFC1FB9278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4363" y="214313"/>
            <a:ext cx="1990725"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90600" y="214313"/>
            <a:ext cx="5821363"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8C4113AA-B43D-4FC2-97BD-881622D6B71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C70F7DC-1E05-46B8-8C83-A2994EDCE411}" type="slidenum">
              <a:rPr lang="en-US" smtClean="0"/>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0405779-062B-472F-B541-E532B2745C82}" type="slidenum">
              <a:rPr lang="en-US" smtClean="0"/>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FC8751-264E-44A0-9FEB-7E36D3D660EC}" type="slidenum">
              <a:rPr lang="en-US" smtClean="0"/>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3D91CBE-62B2-45EA-869C-60B8C271C97A}" type="slidenum">
              <a:rPr lang="en-US" smtClean="0"/>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86825BA-C410-4513-A5E9-7FEEE12898AD}" type="slidenum">
              <a:rPr lang="en-US" smtClean="0"/>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54E6D03-8D1A-4B7E-A5BE-59C1FD15CC36}" type="slidenum">
              <a:rPr lang="en-US" smtClean="0"/>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109AEB8-5BB6-4DB0-A227-07E8F160DAFC}" type="slidenum">
              <a:rPr lang="en-US" smtClean="0"/>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5F830F7-4075-4C1A-A4DB-A0CB7A03A35B}" type="slidenum">
              <a:rPr lang="en-US" smtClean="0"/>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C318F78-BEE2-40E5-B459-A05B07855D02}" type="slidenum">
              <a:rPr lang="en-US" smtClean="0"/>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50F746A-589C-498F-AE91-2FFC1FB92789}" type="slidenum">
              <a:rPr lang="en-US" smtClean="0"/>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C4113AA-B43D-4FC2-97BD-881622D6B71F}"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ChangeArrowheads="1"/>
          </p:cNvSpPr>
          <p:nvPr/>
        </p:nvSpPr>
        <p:spPr bwMode="ltGray">
          <a:xfrm>
            <a:off x="417513" y="184150"/>
            <a:ext cx="438150" cy="474663"/>
          </a:xfrm>
          <a:prstGeom prst="rect">
            <a:avLst/>
          </a:prstGeom>
          <a:solidFill>
            <a:schemeClr val="accent2"/>
          </a:solidFill>
          <a:ln w="9525">
            <a:noFill/>
            <a:miter lim="800000"/>
            <a:headEnd/>
            <a:tailEnd/>
          </a:ln>
          <a:effectLst/>
        </p:spPr>
        <p:txBody>
          <a:bodyPr wrap="none" anchor="ctr"/>
          <a:lstStyle/>
          <a:p>
            <a:pPr algn="ctr">
              <a:defRPr/>
            </a:pPr>
            <a:endParaRPr kumimoji="1" lang="en-US" sz="2400">
              <a:latin typeface="Tahoma" charset="0"/>
            </a:endParaRPr>
          </a:p>
        </p:txBody>
      </p:sp>
      <p:sp>
        <p:nvSpPr>
          <p:cNvPr id="80899" name="Rectangle 3"/>
          <p:cNvSpPr>
            <a:spLocks noChangeArrowheads="1"/>
          </p:cNvSpPr>
          <p:nvPr/>
        </p:nvSpPr>
        <p:spPr bwMode="ltGray">
          <a:xfrm>
            <a:off x="800100" y="1841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charset="0"/>
            </a:endParaRPr>
          </a:p>
        </p:txBody>
      </p:sp>
      <p:sp>
        <p:nvSpPr>
          <p:cNvPr id="80900" name="Rectangle 4"/>
          <p:cNvSpPr>
            <a:spLocks noChangeArrowheads="1"/>
          </p:cNvSpPr>
          <p:nvPr/>
        </p:nvSpPr>
        <p:spPr bwMode="ltGray">
          <a:xfrm>
            <a:off x="541338" y="606425"/>
            <a:ext cx="422275" cy="474663"/>
          </a:xfrm>
          <a:prstGeom prst="rect">
            <a:avLst/>
          </a:prstGeom>
          <a:solidFill>
            <a:schemeClr val="folHlink"/>
          </a:solidFill>
          <a:ln w="9525">
            <a:noFill/>
            <a:miter lim="800000"/>
            <a:headEnd/>
            <a:tailEnd/>
          </a:ln>
          <a:effectLst/>
        </p:spPr>
        <p:txBody>
          <a:bodyPr wrap="none" anchor="ctr"/>
          <a:lstStyle/>
          <a:p>
            <a:pPr algn="ctr">
              <a:defRPr/>
            </a:pPr>
            <a:endParaRPr kumimoji="1" lang="en-US" sz="2400">
              <a:latin typeface="Tahoma" charset="0"/>
            </a:endParaRPr>
          </a:p>
        </p:txBody>
      </p:sp>
      <p:sp>
        <p:nvSpPr>
          <p:cNvPr id="80901" name="Rectangle 5"/>
          <p:cNvSpPr>
            <a:spLocks noChangeArrowheads="1"/>
          </p:cNvSpPr>
          <p:nvPr/>
        </p:nvSpPr>
        <p:spPr bwMode="ltGray">
          <a:xfrm>
            <a:off x="911225" y="6064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charset="0"/>
            </a:endParaRPr>
          </a:p>
        </p:txBody>
      </p:sp>
      <p:sp>
        <p:nvSpPr>
          <p:cNvPr id="80902" name="Rectangle 6"/>
          <p:cNvSpPr>
            <a:spLocks noChangeArrowheads="1"/>
          </p:cNvSpPr>
          <p:nvPr/>
        </p:nvSpPr>
        <p:spPr bwMode="ltGray">
          <a:xfrm>
            <a:off x="127000" y="5334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en-US" sz="2400">
              <a:latin typeface="Tahoma" charset="0"/>
            </a:endParaRPr>
          </a:p>
        </p:txBody>
      </p:sp>
      <p:sp>
        <p:nvSpPr>
          <p:cNvPr id="80903" name="Rectangle 7"/>
          <p:cNvSpPr>
            <a:spLocks noChangeArrowheads="1"/>
          </p:cNvSpPr>
          <p:nvPr/>
        </p:nvSpPr>
        <p:spPr bwMode="gray">
          <a:xfrm>
            <a:off x="762000" y="76200"/>
            <a:ext cx="31750" cy="1052513"/>
          </a:xfrm>
          <a:prstGeom prst="rect">
            <a:avLst/>
          </a:prstGeom>
          <a:solidFill>
            <a:schemeClr val="bg2"/>
          </a:solidFill>
          <a:ln w="9525">
            <a:noFill/>
            <a:miter lim="800000"/>
            <a:headEnd/>
            <a:tailEnd/>
          </a:ln>
          <a:effectLst/>
        </p:spPr>
        <p:txBody>
          <a:bodyPr wrap="none" anchor="ctr"/>
          <a:lstStyle/>
          <a:p>
            <a:pPr algn="ctr">
              <a:defRPr/>
            </a:pPr>
            <a:endParaRPr kumimoji="1" lang="en-US" sz="2400">
              <a:latin typeface="Tahoma" charset="0"/>
            </a:endParaRPr>
          </a:p>
        </p:txBody>
      </p:sp>
      <p:sp>
        <p:nvSpPr>
          <p:cNvPr id="80904" name="Rectangle 8"/>
          <p:cNvSpPr>
            <a:spLocks noChangeArrowheads="1"/>
          </p:cNvSpPr>
          <p:nvPr/>
        </p:nvSpPr>
        <p:spPr bwMode="gray">
          <a:xfrm>
            <a:off x="442913" y="8667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charset="0"/>
            </a:endParaRPr>
          </a:p>
        </p:txBody>
      </p:sp>
      <p:sp>
        <p:nvSpPr>
          <p:cNvPr id="5129" name="Rectangle 9"/>
          <p:cNvSpPr>
            <a:spLocks noGrp="1" noChangeArrowheads="1"/>
          </p:cNvSpPr>
          <p:nvPr>
            <p:ph type="title"/>
          </p:nvPr>
        </p:nvSpPr>
        <p:spPr bwMode="auto">
          <a:xfrm>
            <a:off x="1150938" y="214313"/>
            <a:ext cx="7793037" cy="5476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5130" name="Rectangle 10"/>
          <p:cNvSpPr>
            <a:spLocks noGrp="1" noChangeArrowheads="1"/>
          </p:cNvSpPr>
          <p:nvPr>
            <p:ph type="body" idx="1"/>
          </p:nvPr>
        </p:nvSpPr>
        <p:spPr bwMode="auto">
          <a:xfrm>
            <a:off x="990600" y="1066800"/>
            <a:ext cx="7964488" cy="5065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90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400">
                <a:latin typeface="Tahoma" charset="0"/>
              </a:defRPr>
            </a:lvl1pPr>
          </a:lstStyle>
          <a:p>
            <a:pPr>
              <a:defRPr/>
            </a:pPr>
            <a:endParaRPr lang="en-US"/>
          </a:p>
        </p:txBody>
      </p:sp>
      <p:sp>
        <p:nvSpPr>
          <p:cNvPr id="80908"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charset="0"/>
              </a:defRPr>
            </a:lvl1pPr>
          </a:lstStyle>
          <a:p>
            <a:pPr>
              <a:defRPr/>
            </a:pPr>
            <a:endParaRPr lang="en-US"/>
          </a:p>
        </p:txBody>
      </p:sp>
      <p:sp>
        <p:nvSpPr>
          <p:cNvPr id="8090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Tahoma" charset="0"/>
              </a:defRPr>
            </a:lvl1pPr>
          </a:lstStyle>
          <a:p>
            <a:pPr>
              <a:defRPr/>
            </a:pPr>
            <a:fld id="{B200E3EA-CA16-4B76-91EE-2E2E651FDE0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8"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hf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ahoma" charset="0"/>
        </a:defRPr>
      </a:lvl2pPr>
      <a:lvl3pPr algn="l" rtl="0" eaLnBrk="0" fontAlgn="base" hangingPunct="0">
        <a:spcBef>
          <a:spcPct val="0"/>
        </a:spcBef>
        <a:spcAft>
          <a:spcPct val="0"/>
        </a:spcAft>
        <a:defRPr sz="3600">
          <a:solidFill>
            <a:schemeClr val="tx2"/>
          </a:solidFill>
          <a:latin typeface="Tahoma" charset="0"/>
        </a:defRPr>
      </a:lvl3pPr>
      <a:lvl4pPr algn="l" rtl="0" eaLnBrk="0" fontAlgn="base" hangingPunct="0">
        <a:spcBef>
          <a:spcPct val="0"/>
        </a:spcBef>
        <a:spcAft>
          <a:spcPct val="0"/>
        </a:spcAft>
        <a:defRPr sz="3600">
          <a:solidFill>
            <a:schemeClr val="tx2"/>
          </a:solidFill>
          <a:latin typeface="Tahoma" charset="0"/>
        </a:defRPr>
      </a:lvl4pPr>
      <a:lvl5pPr algn="l" rtl="0" eaLnBrk="0" fontAlgn="base" hangingPunct="0">
        <a:spcBef>
          <a:spcPct val="0"/>
        </a:spcBef>
        <a:spcAft>
          <a:spcPct val="0"/>
        </a:spcAft>
        <a:defRPr sz="3600">
          <a:solidFill>
            <a:schemeClr val="tx2"/>
          </a:solidFill>
          <a:latin typeface="Tahoma" charset="0"/>
        </a:defRPr>
      </a:lvl5pPr>
      <a:lvl6pPr marL="457200" algn="l" rtl="0" fontAlgn="base">
        <a:spcBef>
          <a:spcPct val="0"/>
        </a:spcBef>
        <a:spcAft>
          <a:spcPct val="0"/>
        </a:spcAft>
        <a:defRPr sz="3600">
          <a:solidFill>
            <a:schemeClr val="tx2"/>
          </a:solidFill>
          <a:latin typeface="Tahoma" charset="0"/>
        </a:defRPr>
      </a:lvl6pPr>
      <a:lvl7pPr marL="914400" algn="l" rtl="0" fontAlgn="base">
        <a:spcBef>
          <a:spcPct val="0"/>
        </a:spcBef>
        <a:spcAft>
          <a:spcPct val="0"/>
        </a:spcAft>
        <a:defRPr sz="3600">
          <a:solidFill>
            <a:schemeClr val="tx2"/>
          </a:solidFill>
          <a:latin typeface="Tahoma" charset="0"/>
        </a:defRPr>
      </a:lvl7pPr>
      <a:lvl8pPr marL="1371600" algn="l" rtl="0" fontAlgn="base">
        <a:spcBef>
          <a:spcPct val="0"/>
        </a:spcBef>
        <a:spcAft>
          <a:spcPct val="0"/>
        </a:spcAft>
        <a:defRPr sz="3600">
          <a:solidFill>
            <a:schemeClr val="tx2"/>
          </a:solidFill>
          <a:latin typeface="Tahoma" charset="0"/>
        </a:defRPr>
      </a:lvl8pPr>
      <a:lvl9pPr marL="1828800" algn="l" rtl="0" fontAlgn="base">
        <a:spcBef>
          <a:spcPct val="0"/>
        </a:spcBef>
        <a:spcAft>
          <a:spcPct val="0"/>
        </a:spcAft>
        <a:defRPr sz="3600">
          <a:solidFill>
            <a:schemeClr val="tx2"/>
          </a:solidFill>
          <a:latin typeface="Tahoma"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200E3EA-CA16-4B76-91EE-2E2E651FDE0C}"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Activity diagram is basically a flowchart to represent the flow from one activity to another activity. The activity can be described as an operation of the system</a:t>
            </a:r>
            <a:r>
              <a:rPr lang="en-US" dirty="0" smtClean="0"/>
              <a:t>.</a:t>
            </a:r>
          </a:p>
          <a:p>
            <a:pPr algn="just"/>
            <a:r>
              <a:rPr lang="en-US" dirty="0" smtClean="0"/>
              <a:t>The control flow is drawn from one operation to another. This flow can be sequential, branched, or concurrent</a:t>
            </a:r>
            <a:r>
              <a:rPr lang="en-US" dirty="0" smtClean="0"/>
              <a:t>.</a:t>
            </a:r>
          </a:p>
          <a:p>
            <a:pPr algn="just"/>
            <a:r>
              <a:rPr lang="en-US" dirty="0" smtClean="0"/>
              <a:t>They display the order in which activities happen and whether they occur one after the other (sequential) or at the same time (concurrent).</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t>Activity Diagram: what is it?</a:t>
            </a:r>
          </a:p>
        </p:txBody>
      </p:sp>
      <p:sp>
        <p:nvSpPr>
          <p:cNvPr id="18435" name="Rectangle 3"/>
          <p:cNvSpPr>
            <a:spLocks noGrp="1" noChangeArrowheads="1"/>
          </p:cNvSpPr>
          <p:nvPr>
            <p:ph idx="1"/>
          </p:nvPr>
        </p:nvSpPr>
        <p:spPr>
          <a:xfrm>
            <a:off x="685800" y="1981200"/>
            <a:ext cx="7631113" cy="4114800"/>
          </a:xfrm>
        </p:spPr>
        <p:txBody>
          <a:bodyPr/>
          <a:lstStyle/>
          <a:p>
            <a:pPr algn="just" eaLnBrk="1" hangingPunct="1"/>
            <a:r>
              <a:rPr lang="en-US" sz="3000" dirty="0"/>
              <a:t>Describes activities and flows of data or decisions between activities</a:t>
            </a:r>
          </a:p>
          <a:p>
            <a:pPr algn="just" eaLnBrk="1" hangingPunct="1"/>
            <a:r>
              <a:rPr lang="en-US" sz="3000" dirty="0"/>
              <a:t>Provides a very broad view of business processes</a:t>
            </a:r>
          </a:p>
          <a:p>
            <a:pPr algn="just" eaLnBrk="1" hangingPunct="1"/>
            <a:r>
              <a:rPr lang="en-US" sz="3000" dirty="0"/>
              <a:t>Can be used to break out the activities that occur within a use case</a:t>
            </a:r>
          </a:p>
          <a:p>
            <a:pPr algn="just" eaLnBrk="1" hangingPunct="1"/>
            <a:r>
              <a:rPr lang="en-US" sz="3000" dirty="0"/>
              <a:t>Good for showing parallel 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Activity Diagram</a:t>
            </a:r>
          </a:p>
        </p:txBody>
      </p:sp>
      <p:sp>
        <p:nvSpPr>
          <p:cNvPr id="19459" name="Rectangle 3"/>
          <p:cNvSpPr>
            <a:spLocks noGrp="1" noChangeArrowheads="1"/>
          </p:cNvSpPr>
          <p:nvPr>
            <p:ph idx="1"/>
          </p:nvPr>
        </p:nvSpPr>
        <p:spPr/>
        <p:txBody>
          <a:bodyPr/>
          <a:lstStyle/>
          <a:p>
            <a:pPr eaLnBrk="1" hangingPunct="1"/>
            <a:r>
              <a:rPr lang="en-US" sz="3000"/>
              <a:t>Activity diagrams show the flow of control between activities</a:t>
            </a:r>
          </a:p>
          <a:p>
            <a:pPr lvl="1" eaLnBrk="1" hangingPunct="1"/>
            <a:r>
              <a:rPr lang="en-US" sz="2600"/>
              <a:t>They can model the sequential and concurrent steps in a computational process</a:t>
            </a:r>
          </a:p>
          <a:p>
            <a:pPr lvl="1" eaLnBrk="1" hangingPunct="1"/>
            <a:r>
              <a:rPr lang="en-US" sz="2600"/>
              <a:t>They can also model the flow of an object as it moves from state to state at different points in the activity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nl-NL"/>
              <a:t>UML </a:t>
            </a:r>
            <a:r>
              <a:rPr lang="en-GB"/>
              <a:t>Activity symbols</a:t>
            </a:r>
          </a:p>
        </p:txBody>
      </p:sp>
      <p:pic>
        <p:nvPicPr>
          <p:cNvPr id="1036" name="Picture 12" descr="UML Activity Diagram | Symbols and Components of UML"/>
          <p:cNvPicPr>
            <a:picLocks noChangeAspect="1" noChangeArrowheads="1"/>
          </p:cNvPicPr>
          <p:nvPr/>
        </p:nvPicPr>
        <p:blipFill>
          <a:blip r:embed="rId3"/>
          <a:srcRect/>
          <a:stretch>
            <a:fillRect/>
          </a:stretch>
        </p:blipFill>
        <p:spPr bwMode="auto">
          <a:xfrm>
            <a:off x="808075" y="1417563"/>
            <a:ext cx="7251404" cy="5124451"/>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b="1" dirty="0" smtClean="0"/>
              <a:t>Initial State</a:t>
            </a:r>
            <a:endParaRPr lang="en-US" sz="4000" dirty="0"/>
          </a:p>
        </p:txBody>
      </p:sp>
      <p:sp>
        <p:nvSpPr>
          <p:cNvPr id="3" name="Slide Number Placeholder 2"/>
          <p:cNvSpPr>
            <a:spLocks noGrp="1"/>
          </p:cNvSpPr>
          <p:nvPr>
            <p:ph type="sldNum" sz="quarter" idx="12"/>
          </p:nvPr>
        </p:nvSpPr>
        <p:spPr/>
        <p:txBody>
          <a:bodyPr/>
          <a:lstStyle/>
          <a:p>
            <a:pPr>
              <a:defRPr/>
            </a:pPr>
            <a:fld id="{954E6D03-8D1A-4B7E-A5BE-59C1FD15CC36}" type="slidenum">
              <a:rPr lang="en-US" smtClean="0"/>
              <a:pPr>
                <a:defRPr/>
              </a:pPr>
              <a:t>5</a:t>
            </a:fld>
            <a:endParaRPr lang="en-US"/>
          </a:p>
        </p:txBody>
      </p:sp>
      <p:sp>
        <p:nvSpPr>
          <p:cNvPr id="5" name="TextBox 4"/>
          <p:cNvSpPr txBox="1"/>
          <p:nvPr/>
        </p:nvSpPr>
        <p:spPr>
          <a:xfrm>
            <a:off x="669851" y="1424763"/>
            <a:ext cx="7527851" cy="1815882"/>
          </a:xfrm>
          <a:prstGeom prst="rect">
            <a:avLst/>
          </a:prstGeom>
          <a:noFill/>
        </p:spPr>
        <p:txBody>
          <a:bodyPr wrap="square" rtlCol="0">
            <a:spAutoFit/>
          </a:bodyPr>
          <a:lstStyle/>
          <a:p>
            <a:pPr algn="just">
              <a:buSzPct val="111000"/>
              <a:buFont typeface="Arial" pitchFamily="34" charset="0"/>
              <a:buChar char="•"/>
            </a:pPr>
            <a:r>
              <a:rPr lang="en-US" sz="2800" dirty="0" smtClean="0"/>
              <a:t> The </a:t>
            </a:r>
            <a:r>
              <a:rPr lang="en-US" sz="2800" dirty="0" smtClean="0"/>
              <a:t>starting state before an activity takes place is depicted using the initial </a:t>
            </a:r>
            <a:r>
              <a:rPr lang="en-US" sz="2800" dirty="0" smtClean="0"/>
              <a:t>state.</a:t>
            </a:r>
          </a:p>
          <a:p>
            <a:pPr algn="just">
              <a:buSzPct val="111000"/>
              <a:buFont typeface="Arial" pitchFamily="34" charset="0"/>
              <a:buChar char="•"/>
            </a:pPr>
            <a:r>
              <a:rPr lang="en-US" sz="2800" dirty="0" smtClean="0"/>
              <a:t> </a:t>
            </a:r>
            <a:r>
              <a:rPr lang="en-US" sz="2800" dirty="0" smtClean="0"/>
              <a:t>use </a:t>
            </a:r>
            <a:r>
              <a:rPr lang="en-US" sz="2800" dirty="0" smtClean="0"/>
              <a:t>a black filled circle to depict the initial state of a system.</a:t>
            </a:r>
            <a:endParaRPr lang="en-US" sz="2800" dirty="0"/>
          </a:p>
        </p:txBody>
      </p:sp>
      <p:pic>
        <p:nvPicPr>
          <p:cNvPr id="48131" name="Picture 3"/>
          <p:cNvPicPr>
            <a:picLocks noChangeAspect="1" noChangeArrowheads="1"/>
          </p:cNvPicPr>
          <p:nvPr/>
        </p:nvPicPr>
        <p:blipFill>
          <a:blip r:embed="rId2"/>
          <a:srcRect/>
          <a:stretch>
            <a:fillRect/>
          </a:stretch>
        </p:blipFill>
        <p:spPr bwMode="auto">
          <a:xfrm>
            <a:off x="3734243" y="3957638"/>
            <a:ext cx="1866900" cy="168592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smtClean="0"/>
              <a:t>Action or Activity </a:t>
            </a:r>
            <a:r>
              <a:rPr lang="en-US" b="1" dirty="0" smtClean="0"/>
              <a:t>State</a:t>
            </a:r>
            <a:endParaRPr lang="en-US" dirty="0"/>
          </a:p>
        </p:txBody>
      </p:sp>
      <p:sp>
        <p:nvSpPr>
          <p:cNvPr id="3" name="Content Placeholder 2"/>
          <p:cNvSpPr>
            <a:spLocks noGrp="1"/>
          </p:cNvSpPr>
          <p:nvPr>
            <p:ph idx="1"/>
          </p:nvPr>
        </p:nvSpPr>
        <p:spPr/>
        <p:txBody>
          <a:bodyPr vert="horz" lIns="91440" tIns="45720" rIns="91440" bIns="45720" rtlCol="0" anchor="t">
            <a:normAutofit/>
          </a:bodyPr>
          <a:lstStyle/>
          <a:p>
            <a:r>
              <a:rPr lang="en-US" dirty="0" smtClean="0"/>
              <a:t>An activity represents execution of an action on objects or by objects. </a:t>
            </a:r>
            <a:endParaRPr lang="en-US" dirty="0" smtClean="0"/>
          </a:p>
          <a:p>
            <a:r>
              <a:rPr lang="en-US" dirty="0" smtClean="0"/>
              <a:t>We </a:t>
            </a:r>
            <a:r>
              <a:rPr lang="en-US" dirty="0" smtClean="0"/>
              <a:t>represent an activity using a rectangle with rounded corners. </a:t>
            </a:r>
            <a:endParaRPr lang="en-US" dirty="0" smtClean="0"/>
          </a:p>
          <a:p>
            <a:r>
              <a:rPr lang="en-US" dirty="0" smtClean="0"/>
              <a:t>Basically </a:t>
            </a:r>
            <a:r>
              <a:rPr lang="en-US" dirty="0" smtClean="0"/>
              <a:t>any action or event that takes place is represented using an activity.</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6</a:t>
            </a:fld>
            <a:endParaRPr lang="en-US"/>
          </a:p>
        </p:txBody>
      </p:sp>
      <p:pic>
        <p:nvPicPr>
          <p:cNvPr id="32769" name="Picture 1"/>
          <p:cNvPicPr>
            <a:picLocks noChangeAspect="1" noChangeArrowheads="1"/>
          </p:cNvPicPr>
          <p:nvPr/>
        </p:nvPicPr>
        <p:blipFill>
          <a:blip r:embed="rId2"/>
          <a:srcRect/>
          <a:stretch>
            <a:fillRect/>
          </a:stretch>
        </p:blipFill>
        <p:spPr bwMode="auto">
          <a:xfrm>
            <a:off x="3536101" y="4671237"/>
            <a:ext cx="2390775" cy="19812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smtClean="0"/>
              <a:t>Action Flow or Control </a:t>
            </a:r>
            <a:r>
              <a:rPr lang="en-US" b="1" dirty="0" smtClean="0"/>
              <a:t>flows</a:t>
            </a:r>
            <a:endParaRPr lang="en-US" dirty="0"/>
          </a:p>
        </p:txBody>
      </p:sp>
      <p:sp>
        <p:nvSpPr>
          <p:cNvPr id="3" name="Content Placeholder 2"/>
          <p:cNvSpPr>
            <a:spLocks noGrp="1"/>
          </p:cNvSpPr>
          <p:nvPr>
            <p:ph idx="1"/>
          </p:nvPr>
        </p:nvSpPr>
        <p:spPr/>
        <p:txBody>
          <a:bodyPr/>
          <a:lstStyle/>
          <a:p>
            <a:pPr algn="just"/>
            <a:r>
              <a:rPr lang="en-US" dirty="0" smtClean="0"/>
              <a:t>Action flows or Control flows are also referred to as paths and edges. They are used to show the transition from one activity state to another activity state</a:t>
            </a:r>
            <a:r>
              <a:rPr lang="en-US" dirty="0" smtClean="0"/>
              <a:t>.</a:t>
            </a:r>
          </a:p>
          <a:p>
            <a:pPr algn="just"/>
            <a:r>
              <a:rPr lang="en-US" dirty="0" smtClean="0"/>
              <a:t>An activity state can have multiple incoming and outgoing action flows. </a:t>
            </a:r>
            <a:endParaRPr lang="en-US" dirty="0" smtClean="0"/>
          </a:p>
          <a:p>
            <a:pPr algn="just"/>
            <a:r>
              <a:rPr lang="en-US" dirty="0" smtClean="0"/>
              <a:t>We </a:t>
            </a:r>
            <a:r>
              <a:rPr lang="en-US" dirty="0" smtClean="0"/>
              <a:t>use a line with </a:t>
            </a:r>
            <a:r>
              <a:rPr lang="en-US" b="1" dirty="0" smtClean="0"/>
              <a:t>an arrow head to depict a Control Flow.</a:t>
            </a:r>
            <a:endParaRPr lang="en-US" b="1"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7</a:t>
            </a:fld>
            <a:endParaRPr lang="en-US"/>
          </a:p>
        </p:txBody>
      </p:sp>
      <p:pic>
        <p:nvPicPr>
          <p:cNvPr id="49155" name="Picture 3"/>
          <p:cNvPicPr>
            <a:picLocks noChangeAspect="1" noChangeArrowheads="1"/>
          </p:cNvPicPr>
          <p:nvPr/>
        </p:nvPicPr>
        <p:blipFill>
          <a:blip r:embed="rId2"/>
          <a:srcRect/>
          <a:stretch>
            <a:fillRect/>
          </a:stretch>
        </p:blipFill>
        <p:spPr bwMode="auto">
          <a:xfrm>
            <a:off x="3481498" y="5380073"/>
            <a:ext cx="4286250" cy="121211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smtClean="0"/>
              <a:t>Decision node and </a:t>
            </a:r>
            <a:r>
              <a:rPr lang="en-US" b="1" dirty="0" smtClean="0"/>
              <a:t>Branching</a:t>
            </a:r>
            <a:endParaRPr lang="en-US" dirty="0"/>
          </a:p>
        </p:txBody>
      </p:sp>
      <p:sp>
        <p:nvSpPr>
          <p:cNvPr id="3" name="Content Placeholder 2"/>
          <p:cNvSpPr>
            <a:spLocks noGrp="1"/>
          </p:cNvSpPr>
          <p:nvPr>
            <p:ph idx="1"/>
          </p:nvPr>
        </p:nvSpPr>
        <p:spPr/>
        <p:txBody>
          <a:bodyPr>
            <a:normAutofit/>
          </a:bodyPr>
          <a:lstStyle/>
          <a:p>
            <a:pPr algn="just"/>
            <a:r>
              <a:rPr lang="en-US" sz="2800" dirty="0" smtClean="0"/>
              <a:t>When we need to make a decision before deciding the flow of control, we use the decision node. </a:t>
            </a:r>
            <a:endParaRPr lang="en-US" sz="2800" dirty="0" smtClean="0"/>
          </a:p>
          <a:p>
            <a:pPr algn="just"/>
            <a:r>
              <a:rPr lang="en-US" sz="2800" dirty="0" smtClean="0"/>
              <a:t>The </a:t>
            </a:r>
            <a:r>
              <a:rPr lang="en-US" sz="2800" dirty="0" smtClean="0"/>
              <a:t>outgoing arrows from the decision node can be </a:t>
            </a:r>
            <a:r>
              <a:rPr lang="en-US" sz="2800" dirty="0" err="1" smtClean="0"/>
              <a:t>labelled</a:t>
            </a:r>
            <a:r>
              <a:rPr lang="en-US" sz="2800" dirty="0" smtClean="0"/>
              <a:t> with conditions or guard expressions. It always includes two or </a:t>
            </a:r>
            <a:r>
              <a:rPr lang="en-US" sz="2800" dirty="0" smtClean="0"/>
              <a:t>more </a:t>
            </a:r>
            <a:r>
              <a:rPr lang="en-US" sz="2800" dirty="0" smtClean="0"/>
              <a:t>output arrows</a:t>
            </a:r>
            <a:r>
              <a:rPr lang="en-US" sz="2800" dirty="0" smtClean="0"/>
              <a:t>.</a:t>
            </a:r>
          </a:p>
          <a:p>
            <a:pPr algn="just"/>
            <a:endParaRPr lang="en-US" sz="2800" dirty="0" smtClean="0"/>
          </a:p>
          <a:p>
            <a:pPr algn="just"/>
            <a:endParaRPr lang="en-US" sz="2800"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8</a:t>
            </a:fld>
            <a:endParaRPr lang="en-US"/>
          </a:p>
        </p:txBody>
      </p:sp>
      <p:pic>
        <p:nvPicPr>
          <p:cNvPr id="50178" name="Picture 2" descr="Decision / Merge Node | Activity Diagram (SysML 1.5)"/>
          <p:cNvPicPr>
            <a:picLocks noChangeAspect="1" noChangeArrowheads="1"/>
          </p:cNvPicPr>
          <p:nvPr/>
        </p:nvPicPr>
        <p:blipFill>
          <a:blip r:embed="rId2"/>
          <a:srcRect/>
          <a:stretch>
            <a:fillRect/>
          </a:stretch>
        </p:blipFill>
        <p:spPr bwMode="auto">
          <a:xfrm>
            <a:off x="1080608" y="4170621"/>
            <a:ext cx="2143125" cy="2143125"/>
          </a:xfrm>
          <a:prstGeom prst="rect">
            <a:avLst/>
          </a:prstGeom>
          <a:noFill/>
        </p:spPr>
      </p:pic>
      <p:pic>
        <p:nvPicPr>
          <p:cNvPr id="50179" name="Picture 3"/>
          <p:cNvPicPr>
            <a:picLocks noChangeAspect="1" noChangeArrowheads="1"/>
          </p:cNvPicPr>
          <p:nvPr/>
        </p:nvPicPr>
        <p:blipFill>
          <a:blip r:embed="rId3"/>
          <a:srcRect/>
          <a:stretch>
            <a:fillRect/>
          </a:stretch>
        </p:blipFill>
        <p:spPr bwMode="auto">
          <a:xfrm>
            <a:off x="4509202" y="4276393"/>
            <a:ext cx="3400425" cy="20478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Example </a:t>
            </a:r>
            <a:endParaRPr lang="en-US" dirty="0"/>
          </a:p>
        </p:txBody>
      </p:sp>
      <p:sp>
        <p:nvSpPr>
          <p:cNvPr id="3" name="Content Placeholder 2"/>
          <p:cNvSpPr>
            <a:spLocks noGrp="1"/>
          </p:cNvSpPr>
          <p:nvPr>
            <p:ph idx="1"/>
          </p:nvPr>
        </p:nvSpPr>
        <p:spPr>
          <a:xfrm>
            <a:off x="457200" y="1233378"/>
            <a:ext cx="8229600" cy="4892786"/>
          </a:xfrm>
        </p:spPr>
        <p:txBody>
          <a:bodyPr/>
          <a:lstStyle/>
          <a:p>
            <a:r>
              <a:rPr lang="en-US" dirty="0" smtClean="0"/>
              <a:t>When we have condition,</a:t>
            </a:r>
          </a:p>
          <a:p>
            <a:pPr fontAlgn="base">
              <a:buNone/>
            </a:pPr>
            <a:r>
              <a:rPr lang="en-US" dirty="0" smtClean="0"/>
              <a:t>	a) </a:t>
            </a:r>
            <a:r>
              <a:rPr lang="en-US" i="1" dirty="0" smtClean="0"/>
              <a:t>if  </a:t>
            </a:r>
            <a:r>
              <a:rPr lang="en-US" i="1" dirty="0" smtClean="0"/>
              <a:t>number is odd then display the number.</a:t>
            </a:r>
          </a:p>
          <a:p>
            <a:pPr fontAlgn="base">
              <a:buNone/>
            </a:pPr>
            <a:r>
              <a:rPr lang="en-US" i="1" dirty="0" smtClean="0"/>
              <a:t>	b) If </a:t>
            </a:r>
            <a:r>
              <a:rPr lang="en-US" i="1" dirty="0" smtClean="0"/>
              <a:t>number </a:t>
            </a:r>
            <a:r>
              <a:rPr lang="en-US" i="1" dirty="0" smtClean="0"/>
              <a:t>is </a:t>
            </a:r>
            <a:r>
              <a:rPr lang="en-US" i="1" dirty="0" smtClean="0"/>
              <a:t>even then display the error.</a:t>
            </a:r>
          </a:p>
          <a:p>
            <a:pPr>
              <a:buNone/>
            </a:pP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9</a:t>
            </a:fld>
            <a:endParaRPr lang="en-US"/>
          </a:p>
        </p:txBody>
      </p:sp>
      <p:pic>
        <p:nvPicPr>
          <p:cNvPr id="63490" name="Picture 2"/>
          <p:cNvPicPr>
            <a:picLocks noChangeAspect="1" noChangeArrowheads="1"/>
          </p:cNvPicPr>
          <p:nvPr/>
        </p:nvPicPr>
        <p:blipFill>
          <a:blip r:embed="rId2"/>
          <a:srcRect/>
          <a:stretch>
            <a:fillRect/>
          </a:stretch>
        </p:blipFill>
        <p:spPr bwMode="auto">
          <a:xfrm>
            <a:off x="670036" y="2889731"/>
            <a:ext cx="8078787" cy="380047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Fork</a:t>
            </a:r>
            <a:endParaRPr lang="en-US" dirty="0"/>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pPr algn="just"/>
            <a:r>
              <a:rPr lang="en-US" dirty="0" smtClean="0"/>
              <a:t>Fork </a:t>
            </a:r>
            <a:r>
              <a:rPr lang="en-US" dirty="0" smtClean="0"/>
              <a:t>nodes are used to support concurrent activities. </a:t>
            </a:r>
            <a:endParaRPr lang="en-US" dirty="0" smtClean="0"/>
          </a:p>
          <a:p>
            <a:pPr algn="just"/>
            <a:r>
              <a:rPr lang="en-US" dirty="0" smtClean="0"/>
              <a:t>When </a:t>
            </a:r>
            <a:r>
              <a:rPr lang="en-US" dirty="0" smtClean="0"/>
              <a:t>we use a fork node when both the activities get executed concurrently i.e. no decision is made before splitting the activity into two parts. </a:t>
            </a:r>
            <a:endParaRPr lang="en-US" dirty="0" smtClean="0"/>
          </a:p>
          <a:p>
            <a:pPr algn="just"/>
            <a:r>
              <a:rPr lang="en-US" dirty="0" smtClean="0"/>
              <a:t>Both </a:t>
            </a:r>
            <a:r>
              <a:rPr lang="en-US" dirty="0" smtClean="0"/>
              <a:t>parts need to be executed in case of a fork statement. </a:t>
            </a:r>
            <a:endParaRPr lang="en-US" dirty="0" smtClean="0"/>
          </a:p>
          <a:p>
            <a:pPr algn="just"/>
            <a:r>
              <a:rPr lang="en-US" dirty="0" smtClean="0"/>
              <a:t>We </a:t>
            </a:r>
            <a:r>
              <a:rPr lang="en-US" dirty="0" smtClean="0"/>
              <a:t>use a rounded solid rectangular bar to represent a Fork notation with incoming arrow from the parent activity state and outgoing arrows towards the newly created activities.</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Fork</a:t>
            </a:r>
            <a:endParaRPr lang="en-US" dirty="0"/>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dirty="0"/>
              <a:t>A fork node is used to split a single incoming flow into multiple concurrent flows. </a:t>
            </a:r>
            <a:br>
              <a:rPr lang="en-US" dirty="0"/>
            </a:b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11</a:t>
            </a:fld>
            <a:endParaRPr lang="en-US"/>
          </a:p>
        </p:txBody>
      </p:sp>
      <p:pic>
        <p:nvPicPr>
          <p:cNvPr id="64514" name="Picture 2" descr="UML Activity Diagram: Definition and Tutorial to Create"/>
          <p:cNvPicPr>
            <a:picLocks noChangeAspect="1" noChangeArrowheads="1"/>
          </p:cNvPicPr>
          <p:nvPr/>
        </p:nvPicPr>
        <p:blipFill>
          <a:blip r:embed="rId2"/>
          <a:srcRect/>
          <a:stretch>
            <a:fillRect/>
          </a:stretch>
        </p:blipFill>
        <p:spPr bwMode="auto">
          <a:xfrm>
            <a:off x="751000" y="2717283"/>
            <a:ext cx="7620000" cy="380047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Example </a:t>
            </a:r>
            <a:endParaRPr lang="en-US" dirty="0"/>
          </a:p>
        </p:txBody>
      </p:sp>
      <p:sp>
        <p:nvSpPr>
          <p:cNvPr id="3" name="Content Placeholder 2"/>
          <p:cNvSpPr>
            <a:spLocks noGrp="1"/>
          </p:cNvSpPr>
          <p:nvPr>
            <p:ph idx="1"/>
          </p:nvPr>
        </p:nvSpPr>
        <p:spPr/>
        <p:txBody>
          <a:bodyPr/>
          <a:lstStyle/>
          <a:p>
            <a:pPr algn="just"/>
            <a:r>
              <a:rPr lang="en-US" dirty="0" smtClean="0"/>
              <a:t>In the example below, the activity of making coffee can be split into two concurrent activities and hence we use the fork notation.</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12</a:t>
            </a:fld>
            <a:endParaRPr lang="en-US"/>
          </a:p>
        </p:txBody>
      </p:sp>
      <p:pic>
        <p:nvPicPr>
          <p:cNvPr id="65538" name="Picture 2"/>
          <p:cNvPicPr>
            <a:picLocks noChangeAspect="1" noChangeArrowheads="1"/>
          </p:cNvPicPr>
          <p:nvPr/>
        </p:nvPicPr>
        <p:blipFill>
          <a:blip r:embed="rId2"/>
          <a:srcRect/>
          <a:stretch>
            <a:fillRect/>
          </a:stretch>
        </p:blipFill>
        <p:spPr bwMode="auto">
          <a:xfrm>
            <a:off x="1491955" y="3221665"/>
            <a:ext cx="6030913" cy="300901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smtClean="0"/>
              <a:t>Join</a:t>
            </a:r>
            <a:endParaRPr lang="en-US" dirty="0"/>
          </a:p>
        </p:txBody>
      </p:sp>
      <p:sp>
        <p:nvSpPr>
          <p:cNvPr id="3" name="Content Placeholder 2"/>
          <p:cNvSpPr>
            <a:spLocks noGrp="1"/>
          </p:cNvSpPr>
          <p:nvPr>
            <p:ph idx="1"/>
          </p:nvPr>
        </p:nvSpPr>
        <p:spPr/>
        <p:txBody>
          <a:bodyPr>
            <a:normAutofit/>
          </a:bodyPr>
          <a:lstStyle/>
          <a:p>
            <a:pPr algn="just"/>
            <a:r>
              <a:rPr lang="en-US" sz="2800" dirty="0" smtClean="0"/>
              <a:t>Join nodes are used to support concurrent activities converging into one. For join notations we have two or more incoming edges and one outgoing edge.</a:t>
            </a:r>
            <a:endParaRPr lang="en-US" sz="2800"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13</a:t>
            </a:fld>
            <a:endParaRPr lang="en-US"/>
          </a:p>
        </p:txBody>
      </p:sp>
      <p:pic>
        <p:nvPicPr>
          <p:cNvPr id="66562" name="Picture 2" descr="UML Activity Diagram: Definition and Tutorial to Create"/>
          <p:cNvPicPr>
            <a:picLocks noChangeAspect="1" noChangeArrowheads="1"/>
          </p:cNvPicPr>
          <p:nvPr/>
        </p:nvPicPr>
        <p:blipFill>
          <a:blip r:embed="rId2"/>
          <a:srcRect/>
          <a:stretch>
            <a:fillRect/>
          </a:stretch>
        </p:blipFill>
        <p:spPr bwMode="auto">
          <a:xfrm>
            <a:off x="814794" y="3030278"/>
            <a:ext cx="7620000" cy="310470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When both activities i.e. steaming the milk and adding coffee get completed, we converge them into one final activity.</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14</a:t>
            </a:fld>
            <a:endParaRPr lang="en-US"/>
          </a:p>
        </p:txBody>
      </p:sp>
      <p:pic>
        <p:nvPicPr>
          <p:cNvPr id="67586" name="Picture 2"/>
          <p:cNvPicPr>
            <a:picLocks noChangeAspect="1" noChangeArrowheads="1"/>
          </p:cNvPicPr>
          <p:nvPr/>
        </p:nvPicPr>
        <p:blipFill>
          <a:blip r:embed="rId2"/>
          <a:srcRect/>
          <a:stretch>
            <a:fillRect/>
          </a:stretch>
        </p:blipFill>
        <p:spPr bwMode="auto">
          <a:xfrm>
            <a:off x="2509285" y="3391786"/>
            <a:ext cx="4572000" cy="291586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15</a:t>
            </a:fld>
            <a:endParaRPr lang="en-US"/>
          </a:p>
        </p:txBody>
      </p:sp>
      <p:pic>
        <p:nvPicPr>
          <p:cNvPr id="71682" name="Picture 2"/>
          <p:cNvPicPr>
            <a:picLocks noChangeAspect="1" noChangeArrowheads="1"/>
          </p:cNvPicPr>
          <p:nvPr/>
        </p:nvPicPr>
        <p:blipFill>
          <a:blip r:embed="rId2"/>
          <a:srcRect/>
          <a:stretch>
            <a:fillRect/>
          </a:stretch>
        </p:blipFill>
        <p:spPr bwMode="auto">
          <a:xfrm>
            <a:off x="1244009" y="1052623"/>
            <a:ext cx="6847367" cy="50292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t>Fork &amp; Join</a:t>
            </a:r>
          </a:p>
        </p:txBody>
      </p:sp>
      <p:graphicFrame>
        <p:nvGraphicFramePr>
          <p:cNvPr id="2050" name="Object 3"/>
          <p:cNvGraphicFramePr>
            <a:graphicFrameLocks noChangeAspect="1"/>
          </p:cNvGraphicFramePr>
          <p:nvPr/>
        </p:nvGraphicFramePr>
        <p:xfrm>
          <a:off x="1763713" y="1557338"/>
          <a:ext cx="6096000" cy="4149725"/>
        </p:xfrm>
        <a:graphic>
          <a:graphicData uri="http://schemas.openxmlformats.org/presentationml/2006/ole">
            <p:oleObj spid="_x0000_s2058" name="VISIO" r:id="rId4" imgW="21955125" imgH="15011400" progId="">
              <p:embed/>
            </p:oleObj>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l" fontAlgn="base"/>
            <a:r>
              <a:rPr lang="en-US" b="1" dirty="0" smtClean="0"/>
              <a:t>Merge or Merge Event</a:t>
            </a:r>
            <a:endParaRPr lang="en-US" b="1" dirty="0"/>
          </a:p>
        </p:txBody>
      </p:sp>
      <p:sp>
        <p:nvSpPr>
          <p:cNvPr id="21507" name="Rectangle 3"/>
          <p:cNvSpPr>
            <a:spLocks noGrp="1" noChangeArrowheads="1"/>
          </p:cNvSpPr>
          <p:nvPr>
            <p:ph idx="1"/>
          </p:nvPr>
        </p:nvSpPr>
        <p:spPr/>
        <p:txBody>
          <a:bodyPr/>
          <a:lstStyle/>
          <a:p>
            <a:pPr algn="just"/>
            <a:r>
              <a:rPr lang="en-US" dirty="0" smtClean="0"/>
              <a:t>Scenarios arise when activities which are not being executed concurrently have to be merged. </a:t>
            </a:r>
            <a:endParaRPr lang="en-US" dirty="0" smtClean="0"/>
          </a:p>
          <a:p>
            <a:pPr algn="just"/>
            <a:r>
              <a:rPr lang="en-US" dirty="0" smtClean="0"/>
              <a:t>We </a:t>
            </a:r>
            <a:r>
              <a:rPr lang="en-US" dirty="0" smtClean="0"/>
              <a:t>can merge two or more activities into one if the control proceeds onto the next activity irrespective of the path chosen.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18</a:t>
            </a:fld>
            <a:endParaRPr lang="en-US"/>
          </a:p>
        </p:txBody>
      </p:sp>
      <p:pic>
        <p:nvPicPr>
          <p:cNvPr id="69634" name="Picture 2"/>
          <p:cNvPicPr>
            <a:picLocks noChangeAspect="1" noChangeArrowheads="1"/>
          </p:cNvPicPr>
          <p:nvPr/>
        </p:nvPicPr>
        <p:blipFill>
          <a:blip r:embed="rId2"/>
          <a:srcRect/>
          <a:stretch>
            <a:fillRect/>
          </a:stretch>
        </p:blipFill>
        <p:spPr bwMode="auto">
          <a:xfrm>
            <a:off x="1116419" y="1041991"/>
            <a:ext cx="6857999" cy="462516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Final state </a:t>
            </a:r>
            <a:endParaRPr lang="en-US" dirty="0"/>
          </a:p>
        </p:txBody>
      </p:sp>
      <p:sp>
        <p:nvSpPr>
          <p:cNvPr id="3" name="Content Placeholder 2"/>
          <p:cNvSpPr>
            <a:spLocks noGrp="1"/>
          </p:cNvSpPr>
          <p:nvPr>
            <p:ph idx="1"/>
          </p:nvPr>
        </p:nvSpPr>
        <p:spPr/>
        <p:txBody>
          <a:bodyPr/>
          <a:lstStyle/>
          <a:p>
            <a:pPr algn="just"/>
            <a:r>
              <a:rPr lang="en-US" dirty="0" smtClean="0"/>
              <a:t>The state which the system reaches when a particular process or activity ends is known as a Final State or End State. </a:t>
            </a:r>
            <a:endParaRPr lang="en-US" dirty="0" smtClean="0"/>
          </a:p>
          <a:p>
            <a:pPr algn="just"/>
            <a:r>
              <a:rPr lang="en-US" dirty="0" smtClean="0"/>
              <a:t>We </a:t>
            </a:r>
            <a:r>
              <a:rPr lang="en-US" dirty="0" smtClean="0"/>
              <a:t>use a filled circle within a circle notation to represent the final state in a state machine diagram. </a:t>
            </a:r>
            <a:endParaRPr lang="en-US" dirty="0" smtClean="0"/>
          </a:p>
          <a:p>
            <a:pPr algn="just"/>
            <a:r>
              <a:rPr lang="en-US" dirty="0" smtClean="0"/>
              <a:t>A </a:t>
            </a:r>
            <a:r>
              <a:rPr lang="en-US" dirty="0" smtClean="0"/>
              <a:t>system or a process can have multiple final states.</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19</a:t>
            </a:fld>
            <a:endParaRPr lang="en-US"/>
          </a:p>
        </p:txBody>
      </p:sp>
      <p:pic>
        <p:nvPicPr>
          <p:cNvPr id="70658" name="Picture 2"/>
          <p:cNvPicPr>
            <a:picLocks noChangeAspect="1" noChangeArrowheads="1"/>
          </p:cNvPicPr>
          <p:nvPr/>
        </p:nvPicPr>
        <p:blipFill>
          <a:blip r:embed="rId2"/>
          <a:srcRect/>
          <a:stretch>
            <a:fillRect/>
          </a:stretch>
        </p:blipFill>
        <p:spPr bwMode="auto">
          <a:xfrm>
            <a:off x="4844571" y="5400675"/>
            <a:ext cx="1304925" cy="14573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Swim lanes</a:t>
            </a:r>
          </a:p>
        </p:txBody>
      </p:sp>
      <p:sp>
        <p:nvSpPr>
          <p:cNvPr id="24579" name="Rectangle 3"/>
          <p:cNvSpPr>
            <a:spLocks noGrp="1" noChangeArrowheads="1"/>
          </p:cNvSpPr>
          <p:nvPr>
            <p:ph idx="1"/>
          </p:nvPr>
        </p:nvSpPr>
        <p:spPr/>
        <p:txBody>
          <a:bodyPr>
            <a:noAutofit/>
          </a:bodyPr>
          <a:lstStyle/>
          <a:p>
            <a:pPr algn="just"/>
            <a:r>
              <a:rPr lang="en-US" dirty="0" err="1" smtClean="0"/>
              <a:t>Swimlanes</a:t>
            </a:r>
            <a:r>
              <a:rPr lang="en-US" dirty="0" smtClean="0"/>
              <a:t> are used for </a:t>
            </a:r>
            <a:r>
              <a:rPr lang="en-US" dirty="0" smtClean="0"/>
              <a:t>grouping related activities in one column. </a:t>
            </a:r>
            <a:endParaRPr lang="en-US" dirty="0" smtClean="0"/>
          </a:p>
          <a:p>
            <a:pPr algn="just"/>
            <a:r>
              <a:rPr lang="en-US" dirty="0" err="1" smtClean="0"/>
              <a:t>Swimlanes</a:t>
            </a:r>
            <a:r>
              <a:rPr lang="en-US" dirty="0" smtClean="0"/>
              <a:t> </a:t>
            </a:r>
            <a:r>
              <a:rPr lang="en-US" dirty="0" smtClean="0"/>
              <a:t>group related activities into one column or one row. </a:t>
            </a:r>
            <a:endParaRPr lang="en-US" dirty="0" smtClean="0"/>
          </a:p>
          <a:p>
            <a:pPr algn="just"/>
            <a:r>
              <a:rPr lang="en-US" dirty="0" err="1" smtClean="0"/>
              <a:t>Swimlanes</a:t>
            </a:r>
            <a:r>
              <a:rPr lang="en-US" dirty="0" smtClean="0"/>
              <a:t> </a:t>
            </a:r>
            <a:r>
              <a:rPr lang="en-US" dirty="0" smtClean="0"/>
              <a:t>can be vertical and </a:t>
            </a:r>
            <a:r>
              <a:rPr lang="en-US" dirty="0" smtClean="0"/>
              <a:t>horizontal.</a:t>
            </a:r>
          </a:p>
          <a:p>
            <a:pPr algn="just"/>
            <a:r>
              <a:rPr lang="en-US" dirty="0" err="1" smtClean="0"/>
              <a:t>Swimlanes</a:t>
            </a:r>
            <a:r>
              <a:rPr lang="en-US" dirty="0" smtClean="0"/>
              <a:t> </a:t>
            </a:r>
            <a:r>
              <a:rPr lang="en-US" dirty="0" smtClean="0"/>
              <a:t>are used to add modularity to the activity diagram. </a:t>
            </a:r>
            <a:endParaRPr lang="en-US" dirty="0" smtClean="0"/>
          </a:p>
          <a:p>
            <a:pPr algn="just"/>
            <a:r>
              <a:rPr lang="en-US" dirty="0" smtClean="0"/>
              <a:t>It </a:t>
            </a:r>
            <a:r>
              <a:rPr lang="en-US" dirty="0" smtClean="0"/>
              <a:t>is not mandatory to use </a:t>
            </a:r>
            <a:r>
              <a:rPr lang="en-US" dirty="0" err="1" smtClean="0"/>
              <a:t>swimlanes</a:t>
            </a:r>
            <a:r>
              <a:rPr lang="en-US" dirty="0" smtClean="0"/>
              <a:t>. </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Swim lanes</a:t>
            </a:r>
          </a:p>
        </p:txBody>
      </p:sp>
      <p:sp>
        <p:nvSpPr>
          <p:cNvPr id="24579" name="Rectangle 3"/>
          <p:cNvSpPr>
            <a:spLocks noGrp="1" noChangeArrowheads="1"/>
          </p:cNvSpPr>
          <p:nvPr>
            <p:ph idx="1"/>
          </p:nvPr>
        </p:nvSpPr>
        <p:spPr/>
        <p:txBody>
          <a:bodyPr>
            <a:noAutofit/>
          </a:bodyPr>
          <a:lstStyle/>
          <a:p>
            <a:pPr algn="just"/>
            <a:r>
              <a:rPr lang="en-US" dirty="0" smtClean="0"/>
              <a:t>It's </a:t>
            </a:r>
            <a:r>
              <a:rPr lang="en-US" dirty="0" smtClean="0"/>
              <a:t>similar to creating a function in a program. It's not mandatory to do so, but, it is a recommended practice.</a:t>
            </a:r>
            <a:endParaRPr lang="en-US" dirty="0" smtClean="0"/>
          </a:p>
          <a:p>
            <a:pPr algn="just"/>
            <a:r>
              <a:rPr lang="en-US" dirty="0" err="1" smtClean="0"/>
              <a:t>Swimlanes</a:t>
            </a:r>
            <a:r>
              <a:rPr lang="en-US" dirty="0" smtClean="0"/>
              <a:t> </a:t>
            </a:r>
            <a:r>
              <a:rPr lang="en-US" dirty="0" smtClean="0"/>
              <a:t>are used to add modularity to the activity diagram. It is not mandatory to use </a:t>
            </a:r>
            <a:r>
              <a:rPr lang="en-US" dirty="0" err="1" smtClean="0"/>
              <a:t>swimlanes</a:t>
            </a:r>
            <a:r>
              <a:rPr lang="en-US" dirty="0" smtClean="0"/>
              <a:t>. They usually give more clarity to the activity diagram. It's similar to creating a function in a program. It's not mandatory to do so, but, it is a recommended practice</a:t>
            </a:r>
            <a:r>
              <a:rPr lang="en-US" dirty="0" smtClean="0"/>
              <a:t>.</a:t>
            </a:r>
            <a:r>
              <a:rPr lang="en-US" sz="2800" dirty="0" smtClean="0"/>
              <a:t> </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different set of activities are executed based on if the number is odd or even. These activities are grouped into a </a:t>
            </a:r>
            <a:r>
              <a:rPr lang="en-US" dirty="0" err="1" smtClean="0"/>
              <a:t>swimlane</a:t>
            </a:r>
            <a:r>
              <a:rPr lang="en-US" dirty="0" smtClean="0"/>
              <a:t>.</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22</a:t>
            </a:fld>
            <a:endParaRPr lang="en-US"/>
          </a:p>
        </p:txBody>
      </p:sp>
      <p:pic>
        <p:nvPicPr>
          <p:cNvPr id="72706" name="Picture 2"/>
          <p:cNvPicPr>
            <a:picLocks noChangeAspect="1" noChangeArrowheads="1"/>
          </p:cNvPicPr>
          <p:nvPr/>
        </p:nvPicPr>
        <p:blipFill>
          <a:blip r:embed="rId2"/>
          <a:srcRect/>
          <a:stretch>
            <a:fillRect/>
          </a:stretch>
        </p:blipFill>
        <p:spPr bwMode="auto">
          <a:xfrm>
            <a:off x="713563" y="3291554"/>
            <a:ext cx="7821613" cy="292849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t>Swim lanes</a:t>
            </a:r>
          </a:p>
        </p:txBody>
      </p:sp>
      <p:graphicFrame>
        <p:nvGraphicFramePr>
          <p:cNvPr id="4098" name="Object 3"/>
          <p:cNvGraphicFramePr>
            <a:graphicFrameLocks noChangeAspect="1"/>
          </p:cNvGraphicFramePr>
          <p:nvPr/>
        </p:nvGraphicFramePr>
        <p:xfrm>
          <a:off x="1763713" y="1557338"/>
          <a:ext cx="5943600" cy="4316412"/>
        </p:xfrm>
        <a:graphic>
          <a:graphicData uri="http://schemas.openxmlformats.org/presentationml/2006/ole">
            <p:oleObj spid="_x0000_s4106" name="VISIO" r:id="rId4" imgW="25593675" imgH="18669000" progId="">
              <p:embed/>
            </p:oleObj>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Sequential Branching</a:t>
            </a:r>
          </a:p>
        </p:txBody>
      </p:sp>
      <p:sp>
        <p:nvSpPr>
          <p:cNvPr id="21507" name="Rectangle 3"/>
          <p:cNvSpPr>
            <a:spLocks noGrp="1" noChangeArrowheads="1"/>
          </p:cNvSpPr>
          <p:nvPr>
            <p:ph idx="1"/>
          </p:nvPr>
        </p:nvSpPr>
        <p:spPr/>
        <p:txBody>
          <a:bodyPr/>
          <a:lstStyle/>
          <a:p>
            <a:pPr eaLnBrk="1" hangingPunct="1"/>
            <a:r>
              <a:rPr lang="en-US" dirty="0"/>
              <a:t>A sequential branch is represented as a diamond</a:t>
            </a:r>
          </a:p>
          <a:p>
            <a:pPr lvl="1" eaLnBrk="1" hangingPunct="1"/>
            <a:r>
              <a:rPr lang="en-US" dirty="0"/>
              <a:t>It may have one incoming transition and two or more outgoing transitions</a:t>
            </a:r>
          </a:p>
          <a:p>
            <a:pPr lvl="1" eaLnBrk="1" hangingPunct="1"/>
            <a:r>
              <a:rPr lang="en-US" dirty="0"/>
              <a:t>Guards are associated with each transition. The guards are evaluated upon entering the branch, and the one that evaluates to true is then taken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Example</a:t>
            </a:r>
          </a:p>
        </p:txBody>
      </p:sp>
      <p:pic>
        <p:nvPicPr>
          <p:cNvPr id="22531" name="Picture 3" descr="Branch"/>
          <p:cNvPicPr>
            <a:picLocks noGrp="1" noChangeAspect="1" noChangeArrowheads="1"/>
          </p:cNvPicPr>
          <p:nvPr>
            <p:ph idx="1"/>
          </p:nvPr>
        </p:nvPicPr>
        <p:blipFill>
          <a:blip r:embed="rId3"/>
          <a:stretch>
            <a:fillRect/>
          </a:stretch>
        </p:blipFill>
        <p:spPr>
          <a:xfrm>
            <a:off x="1520456" y="1765005"/>
            <a:ext cx="5954232" cy="3462804"/>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Simple Activity Diagram</a:t>
            </a:r>
            <a:endParaRPr lang="en-US" dirty="0"/>
          </a:p>
        </p:txBody>
      </p:sp>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26</a:t>
            </a:fld>
            <a:endParaRPr lang="en-US"/>
          </a:p>
        </p:txBody>
      </p:sp>
      <p:pic>
        <p:nvPicPr>
          <p:cNvPr id="73730" name="Picture 2" descr="Activity Diagram in UML: Symbol, Components &amp; Example"/>
          <p:cNvPicPr>
            <a:picLocks noChangeAspect="1" noChangeArrowheads="1"/>
          </p:cNvPicPr>
          <p:nvPr/>
        </p:nvPicPr>
        <p:blipFill>
          <a:blip r:embed="rId2"/>
          <a:srcRect/>
          <a:stretch>
            <a:fillRect/>
          </a:stretch>
        </p:blipFill>
        <p:spPr bwMode="auto">
          <a:xfrm>
            <a:off x="2207658" y="1198820"/>
            <a:ext cx="4352925" cy="547687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96944" cy="1320800"/>
          </a:xfrm>
        </p:spPr>
        <p:txBody>
          <a:bodyPr>
            <a:normAutofit fontScale="90000"/>
          </a:bodyPr>
          <a:lstStyle/>
          <a:p>
            <a:pPr algn="ctr"/>
            <a:r>
              <a:rPr lang="en-IN" sz="5400" dirty="0">
                <a:latin typeface="Times New Roman" panose="02020603050405020304" pitchFamily="18" charset="0"/>
                <a:cs typeface="Times New Roman" panose="02020603050405020304" pitchFamily="18" charset="0"/>
              </a:rPr>
              <a:t>Employee Management System</a:t>
            </a:r>
            <a:br>
              <a:rPr lang="en-IN" sz="5400" dirty="0">
                <a:latin typeface="Times New Roman" panose="02020603050405020304" pitchFamily="18" charset="0"/>
                <a:cs typeface="Times New Roman" panose="02020603050405020304" pitchFamily="18" charset="0"/>
              </a:rPr>
            </a:br>
            <a:endParaRPr lang="en-IN" sz="5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1509440"/>
            <a:ext cx="9144000" cy="5348560"/>
          </a:xfrm>
          <a:prstGeom prst="rect">
            <a:avLst/>
          </a:prstGeom>
        </p:spPr>
      </p:pic>
    </p:spTree>
    <p:extLst>
      <p:ext uri="{BB962C8B-B14F-4D97-AF65-F5344CB8AC3E}">
        <p14:creationId xmlns:p14="http://schemas.microsoft.com/office/powerpoint/2010/main" xmlns="" val="1441597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96944" cy="1320800"/>
          </a:xfrm>
        </p:spPr>
        <p:txBody>
          <a:bodyPr>
            <a:normAutofit/>
          </a:bodyPr>
          <a:lstStyle/>
          <a:p>
            <a:pPr algn="ctr"/>
            <a:r>
              <a:rPr lang="en-IN" sz="5400" dirty="0">
                <a:latin typeface="Times New Roman" panose="02020603050405020304" pitchFamily="18" charset="0"/>
                <a:cs typeface="Times New Roman" panose="02020603050405020304" pitchFamily="18" charset="0"/>
              </a:rPr>
              <a:t>Add Details</a:t>
            </a: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27067" y="1229847"/>
            <a:ext cx="8280920" cy="5256584"/>
          </a:xfrm>
          <a:prstGeom prst="rect">
            <a:avLst/>
          </a:prstGeom>
        </p:spPr>
      </p:pic>
    </p:spTree>
    <p:extLst>
      <p:ext uri="{BB962C8B-B14F-4D97-AF65-F5344CB8AC3E}">
        <p14:creationId xmlns:p14="http://schemas.microsoft.com/office/powerpoint/2010/main" xmlns="" val="4282897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96944" cy="1320800"/>
          </a:xfrm>
        </p:spPr>
        <p:txBody>
          <a:bodyPr>
            <a:normAutofit/>
          </a:bodyPr>
          <a:lstStyle/>
          <a:p>
            <a:pPr algn="ctr"/>
            <a:r>
              <a:rPr lang="en-IN" sz="5400" dirty="0">
                <a:latin typeface="Times New Roman" panose="02020603050405020304" pitchFamily="18" charset="0"/>
                <a:cs typeface="Times New Roman" panose="02020603050405020304" pitchFamily="18" charset="0"/>
              </a:rPr>
              <a:t>Update Details</a:t>
            </a: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23529" y="1340768"/>
            <a:ext cx="8496944" cy="5328592"/>
          </a:xfrm>
          <a:prstGeom prst="rect">
            <a:avLst/>
          </a:prstGeom>
        </p:spPr>
      </p:pic>
    </p:spTree>
    <p:extLst>
      <p:ext uri="{BB962C8B-B14F-4D97-AF65-F5344CB8AC3E}">
        <p14:creationId xmlns:p14="http://schemas.microsoft.com/office/powerpoint/2010/main" xmlns="" val="1703576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96944" cy="1320800"/>
          </a:xfrm>
        </p:spPr>
        <p:txBody>
          <a:bodyPr>
            <a:normAutofit/>
          </a:bodyPr>
          <a:lstStyle/>
          <a:p>
            <a:pPr algn="ctr"/>
            <a:r>
              <a:rPr lang="en-IN" sz="5400" dirty="0">
                <a:latin typeface="Times New Roman" panose="02020603050405020304" pitchFamily="18" charset="0"/>
                <a:cs typeface="Times New Roman" panose="02020603050405020304" pitchFamily="18" charset="0"/>
              </a:rPr>
              <a:t>Search Details</a:t>
            </a: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95536" y="1124744"/>
            <a:ext cx="8352927" cy="5472608"/>
          </a:xfrm>
          <a:prstGeom prst="rect">
            <a:avLst/>
          </a:prstGeom>
        </p:spPr>
      </p:pic>
    </p:spTree>
    <p:extLst>
      <p:ext uri="{BB962C8B-B14F-4D97-AF65-F5344CB8AC3E}">
        <p14:creationId xmlns:p14="http://schemas.microsoft.com/office/powerpoint/2010/main" xmlns="" val="508283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31</a:t>
            </a:fld>
            <a:endParaRPr lang="en-US"/>
          </a:p>
        </p:txBody>
      </p:sp>
      <p:pic>
        <p:nvPicPr>
          <p:cNvPr id="82946" name="Picture 2"/>
          <p:cNvPicPr>
            <a:picLocks noChangeAspect="1" noChangeArrowheads="1"/>
          </p:cNvPicPr>
          <p:nvPr/>
        </p:nvPicPr>
        <p:blipFill>
          <a:blip r:embed="rId2"/>
          <a:srcRect/>
          <a:stretch>
            <a:fillRect/>
          </a:stretch>
        </p:blipFill>
        <p:spPr bwMode="auto">
          <a:xfrm>
            <a:off x="265814" y="661988"/>
            <a:ext cx="8420986" cy="553402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32</a:t>
            </a:fld>
            <a:endParaRPr lang="en-US"/>
          </a:p>
        </p:txBody>
      </p:sp>
      <p:pic>
        <p:nvPicPr>
          <p:cNvPr id="83970" name="Picture 2"/>
          <p:cNvPicPr>
            <a:picLocks noChangeAspect="1" noChangeArrowheads="1"/>
          </p:cNvPicPr>
          <p:nvPr/>
        </p:nvPicPr>
        <p:blipFill>
          <a:blip r:embed="rId2"/>
          <a:srcRect/>
          <a:stretch>
            <a:fillRect/>
          </a:stretch>
        </p:blipFill>
        <p:spPr bwMode="auto">
          <a:xfrm>
            <a:off x="1270000" y="527050"/>
            <a:ext cx="6602413" cy="5802313"/>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33</a:t>
            </a:fld>
            <a:endParaRPr lang="en-US"/>
          </a:p>
        </p:txBody>
      </p:sp>
      <p:pic>
        <p:nvPicPr>
          <p:cNvPr id="84994" name="Picture 2"/>
          <p:cNvPicPr>
            <a:picLocks noChangeAspect="1" noChangeArrowheads="1"/>
          </p:cNvPicPr>
          <p:nvPr/>
        </p:nvPicPr>
        <p:blipFill>
          <a:blip r:embed="rId2"/>
          <a:srcRect/>
          <a:stretch>
            <a:fillRect/>
          </a:stretch>
        </p:blipFill>
        <p:spPr bwMode="auto">
          <a:xfrm>
            <a:off x="803275" y="41275"/>
            <a:ext cx="7535863" cy="6773863"/>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23" name="Picture 7"/>
          <p:cNvPicPr>
            <a:picLocks noChangeAspect="1" noChangeArrowheads="1"/>
          </p:cNvPicPr>
          <p:nvPr/>
        </p:nvPicPr>
        <p:blipFill>
          <a:blip r:embed="rId2"/>
          <a:srcRect/>
          <a:stretch>
            <a:fillRect/>
          </a:stretch>
        </p:blipFill>
        <p:spPr bwMode="auto">
          <a:xfrm>
            <a:off x="1307805" y="903767"/>
            <a:ext cx="6411431" cy="4577871"/>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35</a:t>
            </a:fld>
            <a:endParaRPr lang="en-US"/>
          </a:p>
        </p:txBody>
      </p:sp>
      <p:sp>
        <p:nvSpPr>
          <p:cNvPr id="87042" name="AutoShape 2" descr="Payment (Activity diagram) | Visual Paradigm User-Contributed Diagrams /  Desig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7044" name="AutoShape 4" descr="https://cdn-us-04.visual-paradigm.com/node/on/w/yyvitwao/rest/diagrams/shares/diagram/aecbd3e5-1e9e-4ada-9e63-c468469b5a1c/preview?p=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7045" name="Picture 5"/>
          <p:cNvPicPr>
            <a:picLocks noChangeAspect="1" noChangeArrowheads="1"/>
          </p:cNvPicPr>
          <p:nvPr/>
        </p:nvPicPr>
        <p:blipFill>
          <a:blip r:embed="rId2"/>
          <a:srcRect/>
          <a:stretch>
            <a:fillRect/>
          </a:stretch>
        </p:blipFill>
        <p:spPr bwMode="auto">
          <a:xfrm>
            <a:off x="914399" y="478466"/>
            <a:ext cx="7293935" cy="565652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0405779-062B-472F-B541-E532B2745C82}" type="slidenum">
              <a:rPr lang="en-US" smtClean="0"/>
              <a:pPr>
                <a:defRPr/>
              </a:pPr>
              <a:t>36</a:t>
            </a:fld>
            <a:endParaRPr lang="en-US"/>
          </a:p>
        </p:txBody>
      </p:sp>
      <p:pic>
        <p:nvPicPr>
          <p:cNvPr id="88066" name="Picture 2" descr="UML Activity Diagram Symbols, Examples, and Templates"/>
          <p:cNvPicPr>
            <a:picLocks noChangeAspect="1" noChangeArrowheads="1"/>
          </p:cNvPicPr>
          <p:nvPr/>
        </p:nvPicPr>
        <p:blipFill>
          <a:blip r:embed="rId2"/>
          <a:srcRect/>
          <a:stretch>
            <a:fillRect/>
          </a:stretch>
        </p:blipFill>
        <p:spPr bwMode="auto">
          <a:xfrm>
            <a:off x="882502" y="563526"/>
            <a:ext cx="7291794" cy="5762846"/>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ActDiagSwim"/>
          <p:cNvPicPr>
            <a:picLocks noChangeAspect="1" noChangeArrowheads="1"/>
          </p:cNvPicPr>
          <p:nvPr/>
        </p:nvPicPr>
        <p:blipFill>
          <a:blip r:embed="rId3"/>
          <a:srcRect/>
          <a:stretch>
            <a:fillRect/>
          </a:stretch>
        </p:blipFill>
        <p:spPr bwMode="auto">
          <a:xfrm>
            <a:off x="2555875" y="620713"/>
            <a:ext cx="4851400" cy="5481637"/>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1109AEB8-5BB6-4DB0-A227-07E8F160DAFC}" type="slidenum">
              <a:rPr lang="en-US" smtClean="0"/>
              <a:pPr>
                <a:defRPr/>
              </a:pPr>
              <a:t>38</a:t>
            </a:fld>
            <a:endParaRPr lang="en-US"/>
          </a:p>
        </p:txBody>
      </p:sp>
      <p:pic>
        <p:nvPicPr>
          <p:cNvPr id="49154" name="Picture 2"/>
          <p:cNvPicPr>
            <a:picLocks noChangeAspect="1" noChangeArrowheads="1"/>
          </p:cNvPicPr>
          <p:nvPr/>
        </p:nvPicPr>
        <p:blipFill>
          <a:blip r:embed="rId2"/>
          <a:srcRect/>
          <a:stretch>
            <a:fillRect/>
          </a:stretch>
        </p:blipFill>
        <p:spPr bwMode="auto">
          <a:xfrm>
            <a:off x="2957513" y="981075"/>
            <a:ext cx="4027577" cy="489585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1109AEB8-5BB6-4DB0-A227-07E8F160DAFC}" type="slidenum">
              <a:rPr lang="en-US" smtClean="0"/>
              <a:pPr>
                <a:defRPr/>
              </a:pPr>
              <a:t>39</a:t>
            </a:fld>
            <a:endParaRPr lang="en-US"/>
          </a:p>
        </p:txBody>
      </p:sp>
      <p:pic>
        <p:nvPicPr>
          <p:cNvPr id="50178" name="Picture 2"/>
          <p:cNvPicPr>
            <a:picLocks noChangeAspect="1" noChangeArrowheads="1"/>
          </p:cNvPicPr>
          <p:nvPr/>
        </p:nvPicPr>
        <p:blipFill>
          <a:blip r:embed="rId2"/>
          <a:srcRect/>
          <a:stretch>
            <a:fillRect/>
          </a:stretch>
        </p:blipFill>
        <p:spPr bwMode="auto">
          <a:xfrm>
            <a:off x="1105786" y="1276350"/>
            <a:ext cx="7378995" cy="43053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1109AEB8-5BB6-4DB0-A227-07E8F160DAFC}" type="slidenum">
              <a:rPr lang="en-US" smtClean="0"/>
              <a:pPr>
                <a:defRPr/>
              </a:pPr>
              <a:t>40</a:t>
            </a:fld>
            <a:endParaRPr lang="en-US"/>
          </a:p>
        </p:txBody>
      </p:sp>
      <p:pic>
        <p:nvPicPr>
          <p:cNvPr id="51202" name="Picture 2"/>
          <p:cNvPicPr>
            <a:picLocks noChangeAspect="1" noChangeArrowheads="1"/>
          </p:cNvPicPr>
          <p:nvPr/>
        </p:nvPicPr>
        <p:blipFill>
          <a:blip r:embed="rId2"/>
          <a:srcRect/>
          <a:stretch>
            <a:fillRect/>
          </a:stretch>
        </p:blipFill>
        <p:spPr bwMode="auto">
          <a:xfrm>
            <a:off x="2124075" y="949656"/>
            <a:ext cx="4895850" cy="48768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Lecture">
  <a:themeElements>
    <a:clrScheme name="Lecture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Lectur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lnDef>
  </a:objectDefaults>
  <a:extraClrSchemeLst>
    <a:extraClrScheme>
      <a:clrScheme name="Lectur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Lecture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Lecture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Lecture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Lectur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Lectur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35B006887ACCD4DAA2674A757244D08" ma:contentTypeVersion="12" ma:contentTypeDescription="Create a new document." ma:contentTypeScope="" ma:versionID="ad36cd3af3583009997e547dddb6a6e7">
  <xsd:schema xmlns:xsd="http://www.w3.org/2001/XMLSchema" xmlns:xs="http://www.w3.org/2001/XMLSchema" xmlns:p="http://schemas.microsoft.com/office/2006/metadata/properties" xmlns:ns2="0fb5ea19-2a73-4d7a-828a-cbc35493b23d" xmlns:ns3="58000f81-affc-4d36-8155-a559bd88db14" targetNamespace="http://schemas.microsoft.com/office/2006/metadata/properties" ma:root="true" ma:fieldsID="7831623139f8295ce278074aefa83a71" ns2:_="" ns3:_="">
    <xsd:import namespace="0fb5ea19-2a73-4d7a-828a-cbc35493b23d"/>
    <xsd:import namespace="58000f81-affc-4d36-8155-a559bd88db1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5ea19-2a73-4d7a-828a-cbc35493b2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8000f81-affc-4d36-8155-a559bd88db1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AC02E4-0FBE-49B7-B2AA-21E8B531E809}">
  <ds:schemaRefs>
    <ds:schemaRef ds:uri="http://schemas.microsoft.com/sharepoint/v3/contenttype/forms"/>
  </ds:schemaRefs>
</ds:datastoreItem>
</file>

<file path=customXml/itemProps2.xml><?xml version="1.0" encoding="utf-8"?>
<ds:datastoreItem xmlns:ds="http://schemas.openxmlformats.org/officeDocument/2006/customXml" ds:itemID="{C9DCD96A-BAAB-4D9F-8F3E-D5B0263674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5ea19-2a73-4d7a-828a-cbc35493b23d"/>
    <ds:schemaRef ds:uri="58000f81-affc-4d36-8155-a559bd88db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2A7F11-DD6F-4784-A361-ECE24ED3670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Lecture</Template>
  <TotalTime>922</TotalTime>
  <Words>1302</Words>
  <Application>Microsoft Office PowerPoint</Application>
  <PresentationFormat>On-screen Show (4:3)</PresentationFormat>
  <Paragraphs>135</Paragraphs>
  <Slides>40</Slides>
  <Notes>11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43" baseType="lpstr">
      <vt:lpstr>Lecture</vt:lpstr>
      <vt:lpstr>Office Theme</vt:lpstr>
      <vt:lpstr>VISIO</vt:lpstr>
      <vt:lpstr>Activity Diagrams</vt:lpstr>
      <vt:lpstr>Activity Diagram: what is it?</vt:lpstr>
      <vt:lpstr>Activity Diagram</vt:lpstr>
      <vt:lpstr>UML Activity symbols</vt:lpstr>
      <vt:lpstr>Initial State</vt:lpstr>
      <vt:lpstr>Action or Activity State</vt:lpstr>
      <vt:lpstr>Action Flow or Control flows</vt:lpstr>
      <vt:lpstr>Decision node and Branching</vt:lpstr>
      <vt:lpstr>Example </vt:lpstr>
      <vt:lpstr>Fork</vt:lpstr>
      <vt:lpstr>Fork</vt:lpstr>
      <vt:lpstr>Example </vt:lpstr>
      <vt:lpstr>Join</vt:lpstr>
      <vt:lpstr>Slide 14</vt:lpstr>
      <vt:lpstr>Slide 15</vt:lpstr>
      <vt:lpstr>Fork &amp; Join</vt:lpstr>
      <vt:lpstr>Merge or Merge Event</vt:lpstr>
      <vt:lpstr>Slide 18</vt:lpstr>
      <vt:lpstr>Final state </vt:lpstr>
      <vt:lpstr>Swim lanes</vt:lpstr>
      <vt:lpstr>Swim lanes</vt:lpstr>
      <vt:lpstr>Slide 22</vt:lpstr>
      <vt:lpstr>Swim lanes</vt:lpstr>
      <vt:lpstr>Sequential Branching</vt:lpstr>
      <vt:lpstr>Example</vt:lpstr>
      <vt:lpstr>Simple Activity Diagram</vt:lpstr>
      <vt:lpstr>Employee Management System </vt:lpstr>
      <vt:lpstr>Add Details</vt:lpstr>
      <vt:lpstr>Update Details</vt:lpstr>
      <vt:lpstr>Search Details</vt:lpstr>
      <vt:lpstr>Slide 31</vt:lpstr>
      <vt:lpstr>Slide 32</vt:lpstr>
      <vt:lpstr>Slide 33</vt:lpstr>
      <vt:lpstr>Slide 34</vt:lpstr>
      <vt:lpstr>Slide 35</vt:lpstr>
      <vt:lpstr>Slide 36</vt:lpstr>
      <vt:lpstr>Slide 37</vt:lpstr>
      <vt:lpstr>Slide 38</vt:lpstr>
      <vt:lpstr>Slide 39</vt:lpstr>
      <vt:lpstr>Slide 40</vt:lpstr>
    </vt:vector>
  </TitlesOfParts>
  <Company>USF</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Overview of UML</dc:title>
  <dc:creator>Rollins Turner</dc:creator>
  <cp:lastModifiedBy>nikunj</cp:lastModifiedBy>
  <cp:revision>184</cp:revision>
  <cp:lastPrinted>1601-01-01T00:00:00Z</cp:lastPrinted>
  <dcterms:created xsi:type="dcterms:W3CDTF">2005-08-30T19:57:16Z</dcterms:created>
  <dcterms:modified xsi:type="dcterms:W3CDTF">2026-01-29T05:24:14Z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ContentTypeId">
    <vt:lpwstr>0x010100935B006887ACCD4DAA2674A757244D08</vt:lpwstr>
  </property>
</Properties>
</file>