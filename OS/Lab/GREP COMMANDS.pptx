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975" autoAdjust="0"/>
    <p:restoredTop sz="94434" autoAdjust="0"/>
  </p:normalViewPr>
  <p:slideViewPr>
    <p:cSldViewPr snapToGrid="0">
      <p:cViewPr varScale="1">
        <p:scale>
          <a:sx n="110" d="100"/>
          <a:sy n="110" d="100"/>
        </p:scale>
        <p:origin x="-42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7B54FE9-C659-4603-AE46-16032CA2B0D2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63879E40-46A9-4B54-8E87-2B61B2CB69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2360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79E40-46A9-4B54-8E87-2B61B2CB69D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0801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79E40-46A9-4B54-8E87-2B61B2CB69D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34532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95561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83751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30428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7566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02650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06604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35F927-E660-48DC-A609-3A174DBC8FF8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1788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5"/>
          <p:cNvSpPr>
            <a:spLocks/>
          </p:cNvSpPr>
          <p:nvPr/>
        </p:nvSpPr>
        <p:spPr bwMode="auto">
          <a:xfrm>
            <a:off x="0" y="4324350"/>
            <a:ext cx="1744663" cy="777875"/>
          </a:xfrm>
          <a:custGeom>
            <a:avLst/>
            <a:gdLst/>
            <a:ahLst/>
            <a:cxnLst>
              <a:cxn ang="0">
                <a:pos x="287" y="166"/>
              </a:cxn>
              <a:cxn ang="0">
                <a:pos x="293" y="164"/>
              </a:cxn>
              <a:cxn ang="0">
                <a:pos x="294" y="163"/>
              </a:cxn>
              <a:cxn ang="0">
                <a:pos x="370" y="87"/>
              </a:cxn>
              <a:cxn ang="0">
                <a:pos x="370" y="78"/>
              </a:cxn>
              <a:cxn ang="0">
                <a:pos x="294" y="3"/>
              </a:cxn>
              <a:cxn ang="0">
                <a:pos x="293" y="2"/>
              </a:cxn>
              <a:cxn ang="0">
                <a:pos x="287" y="0"/>
              </a:cxn>
              <a:cxn ang="0">
                <a:pos x="0" y="0"/>
              </a:cxn>
              <a:cxn ang="0">
                <a:pos x="0" y="166"/>
              </a:cxn>
              <a:cxn ang="0">
                <a:pos x="287" y="166"/>
              </a:cxn>
            </a:cxnLst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6438E-52C6-401A-8171-FEFA164C42FE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3" y="4529138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2892318B-DF17-49FE-818A-28AE0E92A5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F5C6B-329D-4149-8673-760C5570B2C0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DF140-6A5D-459E-8EF1-799C2B0BE4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A7906-04C3-4010-8C85-40C094636141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D148F8BE-071D-498B-BCF3-3C985A357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5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D931C-9D0C-42A7-8A4F-8C3B2FC0750D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5D071-28A8-4B75-9AF8-D3D9F82609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5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D54F9-9D7B-4D98-83A0-C1FB69E5B57E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394D3-E297-403D-84EE-1BBF093F15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B25BD-837A-4F67-83B3-1E08359782B1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3F02AA-0236-4A41-92D1-51AF8C0D9A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9FBC3-DC5B-4A6C-B9D5-1646174B0F9F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2BF851-EDFD-4EC5-A711-AA79C94A6E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9DA62-5544-4C01-AAF4-C49F2ABFA128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89C5E2-E7E2-4229-97A0-3A8F030924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6D481-580F-4789-A92D-743647388AA3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20BADE8F-3C43-4860-B476-F415C31B4B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E01C7-CA30-445E-BDE8-58442709FBA1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519C40A7-74B2-486D-98D5-2AD751A992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6"/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en-US" sz="8000">
                <a:solidFill>
                  <a:schemeClr val="accent1"/>
                </a:solidFill>
                <a:latin typeface="Arial" charset="0"/>
              </a:rPr>
              <a:t>“</a:t>
            </a:r>
          </a:p>
        </p:txBody>
      </p:sp>
      <p:sp>
        <p:nvSpPr>
          <p:cNvPr id="7" name="TextBox 37"/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en-US" sz="8000">
                <a:solidFill>
                  <a:schemeClr val="accent1"/>
                </a:solidFill>
                <a:latin typeface="Arial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3F6FD-6BAC-408E-9586-409B9A2DE1A6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64BB8376-EC37-4AA3-9606-AC450298DA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14C1C-9139-4579-9D26-A78685B96549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51467024-5699-4E7F-B3AF-D54D351DAE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6"/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en-US" sz="8000">
                <a:solidFill>
                  <a:schemeClr val="accent1"/>
                </a:solidFill>
                <a:latin typeface="Arial" charset="0"/>
              </a:rPr>
              <a:t>“</a:t>
            </a:r>
          </a:p>
        </p:txBody>
      </p:sp>
      <p:sp>
        <p:nvSpPr>
          <p:cNvPr id="7" name="TextBox 37"/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en-US" sz="8000">
                <a:solidFill>
                  <a:schemeClr val="accent1"/>
                </a:solidFill>
                <a:latin typeface="Arial" charset="0"/>
              </a:rPr>
              <a:t>”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B9533-1198-401A-9E60-D2111EC68027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2420805D-CAD9-4E18-AA36-3638A78A39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7B199-7224-43CF-946B-CB1998A67C2E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fld id="{07274C18-3F19-4B55-B304-587AC50ECF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26A97-5B9E-4192-843C-9FA04932526A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8E7F0-13C9-40F5-9BA0-DD0D18CEEE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/>
            <a:ahLst/>
            <a:cxnLst>
              <a:cxn ang="0">
                <a:pos x="9248" y="4701"/>
              </a:cxn>
              <a:cxn ang="0">
                <a:pos x="7915" y="188"/>
              </a:cxn>
              <a:cxn ang="0">
                <a:pos x="7886" y="94"/>
              </a:cxn>
              <a:cxn ang="0">
                <a:pos x="7803" y="0"/>
              </a:cxn>
              <a:cxn ang="0">
                <a:pos x="7275" y="0"/>
              </a:cxn>
              <a:cxn ang="0">
                <a:pos x="0" y="70"/>
              </a:cxn>
              <a:cxn ang="0">
                <a:pos x="25" y="10000"/>
              </a:cxn>
              <a:cxn ang="0">
                <a:pos x="7275" y="9966"/>
              </a:cxn>
              <a:cxn ang="0">
                <a:pos x="7803" y="9966"/>
              </a:cxn>
              <a:cxn ang="0">
                <a:pos x="7886" y="9872"/>
              </a:cxn>
              <a:cxn ang="0">
                <a:pos x="7915" y="9778"/>
              </a:cxn>
              <a:cxn ang="0">
                <a:pos x="9248" y="5265"/>
              </a:cxn>
              <a:cxn ang="0">
                <a:pos x="9248" y="4701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A41FF-CE78-49E4-9C1F-4E336EB59CCB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01B350-A276-4774-B745-7BE1D7527E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/>
          <p:cNvGrpSpPr>
            <a:grpSpLocks/>
          </p:cNvGrpSpPr>
          <p:nvPr/>
        </p:nvGrpSpPr>
        <p:grpSpPr bwMode="auto">
          <a:xfrm>
            <a:off x="0" y="228600"/>
            <a:ext cx="2851150" cy="6638925"/>
            <a:chOff x="2487613" y="285750"/>
            <a:chExt cx="2428875" cy="5654676"/>
          </a:xfrm>
        </p:grpSpPr>
        <p:sp>
          <p:nvSpPr>
            <p:cNvPr id="1046" name="Freeform 11"/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>
                <a:cxn ang="0">
                  <a:pos x="22" y="136"/>
                </a:cxn>
                <a:cxn ang="0">
                  <a:pos x="17" y="80"/>
                </a:cxn>
                <a:cxn ang="0">
                  <a:pos x="0" y="0"/>
                </a:cxn>
                <a:cxn ang="0">
                  <a:pos x="0" y="35"/>
                </a:cxn>
                <a:cxn ang="0">
                  <a:pos x="20" y="124"/>
                </a:cxn>
                <a:cxn ang="0">
                  <a:pos x="22" y="136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/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>
                <a:cxn ang="0">
                  <a:pos x="86" y="350"/>
                </a:cxn>
                <a:cxn ang="0">
                  <a:pos x="139" y="504"/>
                </a:cxn>
                <a:cxn ang="0">
                  <a:pos x="140" y="478"/>
                </a:cxn>
                <a:cxn ang="0">
                  <a:pos x="95" y="347"/>
                </a:cxn>
                <a:cxn ang="0">
                  <a:pos x="0" y="0"/>
                </a:cxn>
                <a:cxn ang="0">
                  <a:pos x="6" y="61"/>
                </a:cxn>
                <a:cxn ang="0">
                  <a:pos x="86" y="350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/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>
                <a:cxn ang="0">
                  <a:pos x="8" y="22"/>
                </a:cxn>
                <a:cxn ang="0">
                  <a:pos x="0" y="0"/>
                </a:cxn>
                <a:cxn ang="0">
                  <a:pos x="0" y="29"/>
                </a:cxn>
                <a:cxn ang="0">
                  <a:pos x="68" y="194"/>
                </a:cxn>
                <a:cxn ang="0">
                  <a:pos x="123" y="308"/>
                </a:cxn>
                <a:cxn ang="0">
                  <a:pos x="132" y="308"/>
                </a:cxn>
                <a:cxn ang="0">
                  <a:pos x="77" y="190"/>
                </a:cxn>
                <a:cxn ang="0">
                  <a:pos x="8" y="22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/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>
                <a:cxn ang="0">
                  <a:pos x="28" y="79"/>
                </a:cxn>
                <a:cxn ang="0">
                  <a:pos x="37" y="79"/>
                </a:cxn>
                <a:cxn ang="0">
                  <a:pos x="0" y="0"/>
                </a:cxn>
                <a:cxn ang="0">
                  <a:pos x="28" y="79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/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>
                <a:cxn ang="0">
                  <a:pos x="162" y="660"/>
                </a:cxn>
                <a:cxn ang="0">
                  <a:pos x="116" y="534"/>
                </a:cxn>
                <a:cxn ang="0">
                  <a:pos x="40" y="236"/>
                </a:cxn>
                <a:cxn ang="0">
                  <a:pos x="12" y="51"/>
                </a:cxn>
                <a:cxn ang="0">
                  <a:pos x="0" y="0"/>
                </a:cxn>
                <a:cxn ang="0">
                  <a:pos x="33" y="237"/>
                </a:cxn>
                <a:cxn ang="0">
                  <a:pos x="107" y="537"/>
                </a:cxn>
                <a:cxn ang="0">
                  <a:pos x="160" y="681"/>
                </a:cxn>
                <a:cxn ang="0">
                  <a:pos x="178" y="722"/>
                </a:cxn>
                <a:cxn ang="0">
                  <a:pos x="174" y="708"/>
                </a:cxn>
                <a:cxn ang="0">
                  <a:pos x="162" y="660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/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>
                <a:cxn ang="0">
                  <a:pos x="11" y="577"/>
                </a:cxn>
                <a:cxn ang="0">
                  <a:pos x="12" y="589"/>
                </a:cxn>
                <a:cxn ang="0">
                  <a:pos x="22" y="632"/>
                </a:cxn>
                <a:cxn ang="0">
                  <a:pos x="23" y="635"/>
                </a:cxn>
                <a:cxn ang="0">
                  <a:pos x="17" y="576"/>
                </a:cxn>
                <a:cxn ang="0">
                  <a:pos x="5" y="269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" y="269"/>
                </a:cxn>
                <a:cxn ang="0">
                  <a:pos x="11" y="577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/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6"/>
                </a:cxn>
                <a:cxn ang="0">
                  <a:pos x="17" y="107"/>
                </a:cxn>
                <a:cxn ang="0">
                  <a:pos x="11" y="46"/>
                </a:cxn>
                <a:cxn ang="0">
                  <a:pos x="10" y="43"/>
                </a:cxn>
                <a:cxn ang="0">
                  <a:pos x="0" y="0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/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93"/>
                </a:cxn>
                <a:cxn ang="0">
                  <a:pos x="17" y="166"/>
                </a:cxn>
                <a:cxn ang="0">
                  <a:pos x="24" y="184"/>
                </a:cxn>
                <a:cxn ang="0">
                  <a:pos x="41" y="222"/>
                </a:cxn>
                <a:cxn ang="0">
                  <a:pos x="38" y="212"/>
                </a:cxn>
                <a:cxn ang="0">
                  <a:pos x="13" y="92"/>
                </a:cxn>
                <a:cxn ang="0">
                  <a:pos x="8" y="22"/>
                </a:cxn>
                <a:cxn ang="0">
                  <a:pos x="7" y="18"/>
                </a:cxn>
                <a:cxn ang="0">
                  <a:pos x="0" y="0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/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>
                <a:cxn ang="0">
                  <a:pos x="7" y="854"/>
                </a:cxn>
                <a:cxn ang="0">
                  <a:pos x="50" y="613"/>
                </a:cxn>
                <a:cxn ang="0">
                  <a:pos x="149" y="388"/>
                </a:cxn>
                <a:cxn ang="0">
                  <a:pos x="285" y="183"/>
                </a:cxn>
                <a:cxn ang="0">
                  <a:pos x="364" y="89"/>
                </a:cxn>
                <a:cxn ang="0">
                  <a:pos x="406" y="44"/>
                </a:cxn>
                <a:cxn ang="0">
                  <a:pos x="450" y="1"/>
                </a:cxn>
                <a:cxn ang="0">
                  <a:pos x="450" y="0"/>
                </a:cxn>
                <a:cxn ang="0">
                  <a:pos x="405" y="43"/>
                </a:cxn>
                <a:cxn ang="0">
                  <a:pos x="363" y="88"/>
                </a:cxn>
                <a:cxn ang="0">
                  <a:pos x="283" y="181"/>
                </a:cxn>
                <a:cxn ang="0">
                  <a:pos x="145" y="386"/>
                </a:cxn>
                <a:cxn ang="0">
                  <a:pos x="45" y="611"/>
                </a:cxn>
                <a:cxn ang="0">
                  <a:pos x="0" y="854"/>
                </a:cxn>
                <a:cxn ang="0">
                  <a:pos x="0" y="859"/>
                </a:cxn>
                <a:cxn ang="0">
                  <a:pos x="7" y="878"/>
                </a:cxn>
                <a:cxn ang="0">
                  <a:pos x="7" y="854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/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73"/>
                </a:cxn>
                <a:cxn ang="0">
                  <a:pos x="35" y="73"/>
                </a:cxn>
                <a:cxn ang="0">
                  <a:pos x="0" y="0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/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>
                <a:cxn ang="0">
                  <a:pos x="7" y="44"/>
                </a:cxn>
                <a:cxn ang="0">
                  <a:pos x="8" y="48"/>
                </a:cxn>
                <a:cxn ang="0">
                  <a:pos x="8" y="19"/>
                </a:cxn>
                <a:cxn ang="0">
                  <a:pos x="1" y="0"/>
                </a:cxn>
                <a:cxn ang="0">
                  <a:pos x="0" y="26"/>
                </a:cxn>
                <a:cxn ang="0">
                  <a:pos x="7" y="44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/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>
                <a:cxn ang="0">
                  <a:pos x="7" y="18"/>
                </a:cxn>
                <a:cxn ang="0">
                  <a:pos x="0" y="0"/>
                </a:cxn>
                <a:cxn ang="0">
                  <a:pos x="12" y="48"/>
                </a:cxn>
                <a:cxn ang="0">
                  <a:pos x="16" y="62"/>
                </a:cxn>
                <a:cxn ang="0">
                  <a:pos x="51" y="135"/>
                </a:cxn>
                <a:cxn ang="0">
                  <a:pos x="52" y="135"/>
                </a:cxn>
                <a:cxn ang="0">
                  <a:pos x="24" y="56"/>
                </a:cxn>
                <a:cxn ang="0">
                  <a:pos x="7" y="18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9"/>
          <p:cNvGrpSpPr>
            <a:grpSpLocks/>
          </p:cNvGrpSpPr>
          <p:nvPr/>
        </p:nvGrpSpPr>
        <p:grpSpPr bwMode="auto">
          <a:xfrm>
            <a:off x="26988" y="0"/>
            <a:ext cx="2357437" cy="6853238"/>
            <a:chOff x="6627813" y="195610"/>
            <a:chExt cx="1952625" cy="5678141"/>
          </a:xfrm>
        </p:grpSpPr>
        <p:sp>
          <p:nvSpPr>
            <p:cNvPr id="1034" name="Freeform 27"/>
            <p:cNvSpPr>
              <a:spLocks/>
            </p:cNvSpPr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>
                <a:cxn ang="0">
                  <a:pos x="7" y="210"/>
                </a:cxn>
                <a:cxn ang="0">
                  <a:pos x="26" y="445"/>
                </a:cxn>
                <a:cxn ang="0">
                  <a:pos x="57" y="679"/>
                </a:cxn>
                <a:cxn ang="0">
                  <a:pos x="101" y="911"/>
                </a:cxn>
                <a:cxn ang="0">
                  <a:pos x="103" y="920"/>
                </a:cxn>
                <a:cxn ang="0">
                  <a:pos x="99" y="874"/>
                </a:cxn>
                <a:cxn ang="0">
                  <a:pos x="99" y="866"/>
                </a:cxn>
                <a:cxn ang="0">
                  <a:pos x="63" y="678"/>
                </a:cxn>
                <a:cxn ang="0">
                  <a:pos x="30" y="444"/>
                </a:cxn>
                <a:cxn ang="0">
                  <a:pos x="9" y="209"/>
                </a:cxn>
                <a:cxn ang="0">
                  <a:pos x="3" y="9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92"/>
                </a:cxn>
                <a:cxn ang="0">
                  <a:pos x="7" y="210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/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>
                <a:cxn ang="0">
                  <a:pos x="53" y="229"/>
                </a:cxn>
                <a:cxn ang="0">
                  <a:pos x="88" y="330"/>
                </a:cxn>
                <a:cxn ang="0">
                  <a:pos x="88" y="308"/>
                </a:cxn>
                <a:cxn ang="0">
                  <a:pos x="88" y="304"/>
                </a:cxn>
                <a:cxn ang="0">
                  <a:pos x="62" y="226"/>
                </a:cxn>
                <a:cxn ang="0">
                  <a:pos x="0" y="0"/>
                </a:cxn>
                <a:cxn ang="0">
                  <a:pos x="7" y="63"/>
                </a:cxn>
                <a:cxn ang="0">
                  <a:pos x="53" y="229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/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0"/>
                </a:cxn>
                <a:cxn ang="0">
                  <a:pos x="1" y="29"/>
                </a:cxn>
                <a:cxn ang="0">
                  <a:pos x="42" y="127"/>
                </a:cxn>
                <a:cxn ang="0">
                  <a:pos x="80" y="207"/>
                </a:cxn>
                <a:cxn ang="0">
                  <a:pos x="90" y="207"/>
                </a:cxn>
                <a:cxn ang="0">
                  <a:pos x="50" y="123"/>
                </a:cxn>
                <a:cxn ang="0">
                  <a:pos x="6" y="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/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>
                <a:cxn ang="0">
                  <a:pos x="101" y="409"/>
                </a:cxn>
                <a:cxn ang="0">
                  <a:pos x="78" y="344"/>
                </a:cxn>
                <a:cxn ang="0">
                  <a:pos x="29" y="151"/>
                </a:cxn>
                <a:cxn ang="0">
                  <a:pos x="13" y="53"/>
                </a:cxn>
                <a:cxn ang="0">
                  <a:pos x="0" y="0"/>
                </a:cxn>
                <a:cxn ang="0">
                  <a:pos x="21" y="152"/>
                </a:cxn>
                <a:cxn ang="0">
                  <a:pos x="69" y="347"/>
                </a:cxn>
                <a:cxn ang="0">
                  <a:pos x="103" y="441"/>
                </a:cxn>
                <a:cxn ang="0">
                  <a:pos x="115" y="467"/>
                </a:cxn>
                <a:cxn ang="0">
                  <a:pos x="112" y="458"/>
                </a:cxn>
                <a:cxn ang="0">
                  <a:pos x="101" y="409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/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>
                <a:cxn ang="0">
                  <a:pos x="17" y="633"/>
                </a:cxn>
                <a:cxn ang="0">
                  <a:pos x="13" y="597"/>
                </a:cxn>
                <a:cxn ang="0">
                  <a:pos x="5" y="398"/>
                </a:cxn>
                <a:cxn ang="0">
                  <a:pos x="13" y="198"/>
                </a:cxn>
                <a:cxn ang="0">
                  <a:pos x="22" y="99"/>
                </a:cxn>
                <a:cxn ang="0">
                  <a:pos x="36" y="0"/>
                </a:cxn>
                <a:cxn ang="0">
                  <a:pos x="35" y="0"/>
                </a:cxn>
                <a:cxn ang="0">
                  <a:pos x="20" y="99"/>
                </a:cxn>
                <a:cxn ang="0">
                  <a:pos x="10" y="198"/>
                </a:cxn>
                <a:cxn ang="0">
                  <a:pos x="1" y="398"/>
                </a:cxn>
                <a:cxn ang="0">
                  <a:pos x="7" y="589"/>
                </a:cxn>
                <a:cxn ang="0">
                  <a:pos x="16" y="632"/>
                </a:cxn>
                <a:cxn ang="0">
                  <a:pos x="17" y="633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/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>
                <a:cxn ang="0">
                  <a:pos x="22" y="59"/>
                </a:cxn>
                <a:cxn ang="0">
                  <a:pos x="28" y="59"/>
                </a:cxn>
                <a:cxn ang="0">
                  <a:pos x="0" y="0"/>
                </a:cxn>
                <a:cxn ang="0">
                  <a:pos x="22" y="59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/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7" y="107"/>
                </a:cxn>
                <a:cxn ang="0">
                  <a:pos x="10" y="44"/>
                </a:cxn>
                <a:cxn ang="0">
                  <a:pos x="9" y="43"/>
                </a:cxn>
                <a:cxn ang="0">
                  <a:pos x="0" y="0"/>
                </a:cxn>
                <a:cxn ang="0">
                  <a:pos x="0" y="8"/>
                </a:cxn>
                <a:cxn ang="0">
                  <a:pos x="4" y="54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/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>
                <a:cxn ang="0">
                  <a:pos x="8" y="553"/>
                </a:cxn>
                <a:cxn ang="0">
                  <a:pos x="35" y="397"/>
                </a:cxn>
                <a:cxn ang="0">
                  <a:pos x="99" y="252"/>
                </a:cxn>
                <a:cxn ang="0">
                  <a:pos x="187" y="119"/>
                </a:cxn>
                <a:cxn ang="0">
                  <a:pos x="238" y="58"/>
                </a:cxn>
                <a:cxn ang="0">
                  <a:pos x="265" y="28"/>
                </a:cxn>
                <a:cxn ang="0">
                  <a:pos x="294" y="0"/>
                </a:cxn>
                <a:cxn ang="0">
                  <a:pos x="293" y="0"/>
                </a:cxn>
                <a:cxn ang="0">
                  <a:pos x="264" y="27"/>
                </a:cxn>
                <a:cxn ang="0">
                  <a:pos x="237" y="56"/>
                </a:cxn>
                <a:cxn ang="0">
                  <a:pos x="185" y="117"/>
                </a:cxn>
                <a:cxn ang="0">
                  <a:pos x="95" y="249"/>
                </a:cxn>
                <a:cxn ang="0">
                  <a:pos x="30" y="396"/>
                </a:cxn>
                <a:cxn ang="0">
                  <a:pos x="0" y="549"/>
                </a:cxn>
                <a:cxn ang="0">
                  <a:pos x="7" y="568"/>
                </a:cxn>
                <a:cxn ang="0">
                  <a:pos x="8" y="553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/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53"/>
                </a:cxn>
                <a:cxn ang="0">
                  <a:pos x="25" y="53"/>
                </a:cxn>
                <a:cxn ang="0">
                  <a:pos x="0" y="0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/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89"/>
                </a:cxn>
                <a:cxn ang="0">
                  <a:pos x="18" y="117"/>
                </a:cxn>
                <a:cxn ang="0">
                  <a:pos x="29" y="141"/>
                </a:cxn>
                <a:cxn ang="0">
                  <a:pos x="27" y="135"/>
                </a:cxn>
                <a:cxn ang="0">
                  <a:pos x="8" y="22"/>
                </a:cxn>
                <a:cxn ang="0">
                  <a:pos x="4" y="11"/>
                </a:cxn>
                <a:cxn ang="0">
                  <a:pos x="0" y="0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/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4" y="37"/>
                </a:cxn>
                <a:cxn ang="0">
                  <a:pos x="8" y="48"/>
                </a:cxn>
                <a:cxn ang="0">
                  <a:pos x="7" y="19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26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/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>
                <a:cxn ang="0">
                  <a:pos x="11" y="28"/>
                </a:cxn>
                <a:cxn ang="0">
                  <a:pos x="0" y="0"/>
                </a:cxn>
                <a:cxn ang="0">
                  <a:pos x="11" y="49"/>
                </a:cxn>
                <a:cxn ang="0">
                  <a:pos x="14" y="58"/>
                </a:cxn>
                <a:cxn ang="0">
                  <a:pos x="39" y="111"/>
                </a:cxn>
                <a:cxn ang="0">
                  <a:pos x="44" y="111"/>
                </a:cxn>
                <a:cxn ang="0">
                  <a:pos x="22" y="52"/>
                </a:cxn>
                <a:cxn ang="0">
                  <a:pos x="11" y="28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2592388" y="623888"/>
            <a:ext cx="8912225" cy="128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3" y="2133600"/>
            <a:ext cx="8915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3" y="6130925"/>
            <a:ext cx="1146175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2AF672F-0151-46DD-9C5B-5352AECA2A91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3" y="6135688"/>
            <a:ext cx="76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3" y="787400"/>
            <a:ext cx="7794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fld id="{071A55BB-26C4-4076-846C-0F708FA6C56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hf sldNum="0" hdr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>
          <a:solidFill>
            <a:srgbClr val="178DBB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rgbClr val="178DBB"/>
          </a:solidFill>
          <a:latin typeface="Century Gothic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rgbClr val="178DBB"/>
          </a:solidFill>
          <a:latin typeface="Century Gothic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rgbClr val="178DBB"/>
          </a:solidFill>
          <a:latin typeface="Century Gothic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rgbClr val="178DBB"/>
          </a:solidFill>
          <a:latin typeface="Century Gothic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/>
          </p:nvPr>
        </p:nvSpPr>
        <p:spPr>
          <a:xfrm>
            <a:off x="2576513" y="1765300"/>
            <a:ext cx="8915400" cy="2262188"/>
          </a:xfrm>
        </p:spPr>
        <p:txBody>
          <a:bodyPr/>
          <a:lstStyle/>
          <a:p>
            <a:r>
              <a:rPr lang="en-US" b="1" dirty="0" smtClean="0"/>
              <a:t>Unix Shell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1613" y="4230688"/>
            <a:ext cx="8915400" cy="126841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000" b="1" dirty="0" smtClean="0"/>
          </a:p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000" b="1" dirty="0"/>
          </a:p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2300288" y="458788"/>
            <a:ext cx="8912225" cy="1281112"/>
          </a:xfrm>
        </p:spPr>
        <p:txBody>
          <a:bodyPr/>
          <a:lstStyle/>
          <a:p>
            <a:r>
              <a:rPr lang="en-US" b="1" dirty="0" smtClean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1713" y="1320800"/>
            <a:ext cx="8915400" cy="4737099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Revision</a:t>
            </a:r>
          </a:p>
          <a:p>
            <a:pPr marL="800100" lvl="4" indent="-342900" fontAlgn="auto"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en-US" sz="1500" b="1" dirty="0">
                <a:solidFill>
                  <a:schemeClr val="tx1"/>
                </a:solidFill>
              </a:rPr>
              <a:t>Simple Filter Commands</a:t>
            </a: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Filter Using Regular Expression</a:t>
            </a:r>
          </a:p>
          <a:p>
            <a:pPr lvl="1" fontAlgn="auto">
              <a:spcAft>
                <a:spcPts val="0"/>
              </a:spcAft>
              <a:buFont typeface="Wingdings" pitchFamily="2" charset="2"/>
              <a:buChar char="q"/>
              <a:defRPr/>
            </a:pPr>
            <a:r>
              <a:rPr lang="en-US" sz="2200" b="1" dirty="0" err="1" smtClean="0">
                <a:solidFill>
                  <a:schemeClr val="tx1"/>
                </a:solidFill>
              </a:rPr>
              <a:t>Grep</a:t>
            </a:r>
            <a:r>
              <a:rPr lang="en-US" sz="2200" b="1" dirty="0" smtClean="0">
                <a:solidFill>
                  <a:schemeClr val="tx1"/>
                </a:solidFill>
              </a:rPr>
              <a:t> Command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 marL="342900" lvl="2" indent="-342900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sz="2400" b="1" dirty="0" smtClean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sz="2300" b="1" dirty="0" smtClean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sz="2300" dirty="0" smtClean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en-US" sz="2300" dirty="0" smtClean="0">
              <a:solidFill>
                <a:schemeClr val="tx1"/>
              </a:solidFill>
            </a:endParaRP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3FB036-51C8-4668-AFE4-B2058CBBC21F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018476" y="1163783"/>
            <a:ext cx="9447212" cy="550404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b="1" dirty="0" err="1" smtClean="0">
                <a:solidFill>
                  <a:schemeClr val="tx1"/>
                </a:solidFill>
              </a:rPr>
              <a:t>Grep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searches for pattern in one or more filenames or standard input if no filename is specified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Syntax: </a:t>
            </a:r>
            <a:r>
              <a:rPr lang="en-US" sz="2800" b="1" dirty="0" smtClean="0">
                <a:solidFill>
                  <a:schemeClr val="tx1"/>
                </a:solidFill>
              </a:rPr>
              <a:t>$</a:t>
            </a:r>
            <a:r>
              <a:rPr lang="en-US" sz="2800" b="1" dirty="0" err="1" smtClean="0">
                <a:solidFill>
                  <a:schemeClr val="tx1"/>
                </a:solidFill>
              </a:rPr>
              <a:t>grep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i="1" dirty="0" smtClean="0">
                <a:solidFill>
                  <a:schemeClr val="tx1"/>
                </a:solidFill>
              </a:rPr>
              <a:t>options pattern</a:t>
            </a:r>
            <a:r>
              <a:rPr lang="en-US" sz="2800" b="1" dirty="0" smtClean="0">
                <a:solidFill>
                  <a:schemeClr val="tx1"/>
                </a:solidFill>
              </a:rPr>
              <a:t> filename(S)</a:t>
            </a:r>
          </a:p>
          <a:p>
            <a:pPr marL="0" lvl="1" indent="0" algn="just">
              <a:buNone/>
            </a:pPr>
            <a:r>
              <a:rPr lang="en-US" sz="2800" b="1" dirty="0" smtClean="0">
                <a:solidFill>
                  <a:schemeClr val="tx1"/>
                </a:solidFill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>$</a:t>
            </a:r>
            <a:r>
              <a:rPr lang="en-US" sz="2800" b="1" dirty="0" err="1" smtClean="0">
                <a:solidFill>
                  <a:schemeClr val="tx1"/>
                </a:solidFill>
              </a:rPr>
              <a:t>grep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“sales” </a:t>
            </a:r>
            <a:r>
              <a:rPr lang="en-US" sz="2800" b="1" dirty="0" err="1" smtClean="0">
                <a:solidFill>
                  <a:schemeClr val="tx1"/>
                </a:solidFill>
              </a:rPr>
              <a:t>emp.lst</a:t>
            </a:r>
            <a:r>
              <a:rPr lang="en-US" sz="2800" b="1" dirty="0" smtClean="0">
                <a:solidFill>
                  <a:schemeClr val="tx1"/>
                </a:solidFill>
              </a:rPr>
              <a:t>	</a:t>
            </a:r>
          </a:p>
          <a:p>
            <a:pPr algn="just"/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is also a filter, it can search its standard input for the pattern and store the output in a file.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b="1" dirty="0" smtClean="0">
                <a:solidFill>
                  <a:schemeClr val="tx1"/>
                </a:solidFill>
              </a:rPr>
              <a:t> $who </a:t>
            </a:r>
            <a:r>
              <a:rPr lang="en-US" sz="2800" b="1" dirty="0">
                <a:solidFill>
                  <a:schemeClr val="tx1"/>
                </a:solidFill>
              </a:rPr>
              <a:t>| </a:t>
            </a:r>
            <a:r>
              <a:rPr lang="en-US" sz="2800" b="1" dirty="0" err="1">
                <a:solidFill>
                  <a:schemeClr val="tx1"/>
                </a:solidFill>
              </a:rPr>
              <a:t>grep</a:t>
            </a:r>
            <a:r>
              <a:rPr lang="en-US" sz="2800" b="1" dirty="0">
                <a:solidFill>
                  <a:schemeClr val="tx1"/>
                </a:solidFill>
              </a:rPr>
              <a:t> “</a:t>
            </a:r>
            <a:r>
              <a:rPr lang="en-US" sz="2800" b="1" dirty="0" err="1">
                <a:solidFill>
                  <a:schemeClr val="tx1"/>
                </a:solidFill>
              </a:rPr>
              <a:t>kumar</a:t>
            </a:r>
            <a:r>
              <a:rPr lang="en-US" sz="2800" b="1" dirty="0">
                <a:solidFill>
                  <a:schemeClr val="tx1"/>
                </a:solidFill>
              </a:rPr>
              <a:t>” </a:t>
            </a:r>
            <a:r>
              <a:rPr lang="en-US" sz="2800" b="1" dirty="0" smtClean="0">
                <a:solidFill>
                  <a:schemeClr val="tx1"/>
                </a:solidFill>
              </a:rPr>
              <a:t>&gt; </a:t>
            </a:r>
            <a:r>
              <a:rPr lang="en-US" sz="2800" b="1" dirty="0">
                <a:solidFill>
                  <a:schemeClr val="tx1"/>
                </a:solidFill>
              </a:rPr>
              <a:t>foo</a:t>
            </a:r>
          </a:p>
          <a:p>
            <a:pPr algn="just"/>
            <a:r>
              <a:rPr lang="en-US" sz="2800" dirty="0" err="1">
                <a:solidFill>
                  <a:schemeClr val="tx1"/>
                </a:solidFill>
              </a:rPr>
              <a:t>Grep</a:t>
            </a:r>
            <a:r>
              <a:rPr lang="en-US" sz="2800" dirty="0">
                <a:solidFill>
                  <a:schemeClr val="tx1"/>
                </a:solidFill>
              </a:rPr>
              <a:t> is also used with multiple </a:t>
            </a:r>
            <a:r>
              <a:rPr lang="en-US" sz="2800" dirty="0" smtClean="0">
                <a:solidFill>
                  <a:schemeClr val="tx1"/>
                </a:solidFill>
              </a:rPr>
              <a:t>filename, it displays the filenames along with the output.</a:t>
            </a:r>
          </a:p>
          <a:p>
            <a:pPr marL="0" indent="0" algn="just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b="1" dirty="0" smtClean="0">
                <a:solidFill>
                  <a:schemeClr val="tx1"/>
                </a:solidFill>
              </a:rPr>
              <a:t> $</a:t>
            </a:r>
            <a:r>
              <a:rPr lang="en-US" sz="2800" b="1" dirty="0" err="1" smtClean="0">
                <a:solidFill>
                  <a:schemeClr val="tx1"/>
                </a:solidFill>
              </a:rPr>
              <a:t>grep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“sales” </a:t>
            </a:r>
            <a:r>
              <a:rPr lang="en-US" sz="2800" b="1" dirty="0" err="1">
                <a:solidFill>
                  <a:schemeClr val="tx1"/>
                </a:solidFill>
              </a:rPr>
              <a:t>emp.lst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>emp1.lst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Note: </a:t>
            </a:r>
            <a:r>
              <a:rPr lang="en-US" sz="2800" dirty="0" smtClean="0">
                <a:solidFill>
                  <a:schemeClr val="tx1"/>
                </a:solidFill>
              </a:rPr>
              <a:t>Quoting </a:t>
            </a:r>
            <a:r>
              <a:rPr lang="en-US" sz="2800" dirty="0">
                <a:solidFill>
                  <a:schemeClr val="tx1"/>
                </a:solidFill>
              </a:rPr>
              <a:t>is necessary when pattern contain 	multiple </a:t>
            </a:r>
            <a:r>
              <a:rPr lang="en-US" sz="2800" dirty="0" smtClean="0">
                <a:solidFill>
                  <a:schemeClr val="tx1"/>
                </a:solidFill>
              </a:rPr>
              <a:t>words.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sz="26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383E73-D231-4369-BF81-3E64B19DA692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018476" y="1163783"/>
            <a:ext cx="9447212" cy="5504048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Options:</a:t>
            </a:r>
          </a:p>
          <a:p>
            <a:r>
              <a:rPr lang="en-US" sz="2600" b="1" dirty="0">
                <a:solidFill>
                  <a:schemeClr val="tx1"/>
                </a:solidFill>
              </a:rPr>
              <a:t>-</a:t>
            </a:r>
            <a:r>
              <a:rPr lang="en-US" sz="2600" b="1" dirty="0" err="1">
                <a:solidFill>
                  <a:schemeClr val="tx1"/>
                </a:solidFill>
              </a:rPr>
              <a:t>i</a:t>
            </a:r>
            <a:r>
              <a:rPr lang="en-US" sz="2600" b="1" dirty="0">
                <a:solidFill>
                  <a:schemeClr val="tx1"/>
                </a:solidFill>
              </a:rPr>
              <a:t> </a:t>
            </a:r>
            <a:r>
              <a:rPr lang="en-US" sz="2600" dirty="0">
                <a:solidFill>
                  <a:schemeClr val="tx1"/>
                </a:solidFill>
              </a:rPr>
              <a:t>will ignore the case and match the pattern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	</a:t>
            </a:r>
            <a:r>
              <a:rPr lang="en-US" sz="2600" b="1" dirty="0" err="1">
                <a:solidFill>
                  <a:schemeClr val="tx1"/>
                </a:solidFill>
              </a:rPr>
              <a:t>E.g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chemeClr val="tx1"/>
                </a:solidFill>
              </a:rPr>
              <a:t>grep</a:t>
            </a:r>
            <a:r>
              <a:rPr lang="en-US" sz="2600" b="1" dirty="0">
                <a:solidFill>
                  <a:schemeClr val="tx1"/>
                </a:solidFill>
              </a:rPr>
              <a:t> –</a:t>
            </a:r>
            <a:r>
              <a:rPr lang="en-US" sz="2600" b="1" dirty="0" err="1">
                <a:solidFill>
                  <a:schemeClr val="tx1"/>
                </a:solidFill>
              </a:rPr>
              <a:t>i</a:t>
            </a:r>
            <a:r>
              <a:rPr lang="en-US" sz="2600" b="1" dirty="0">
                <a:solidFill>
                  <a:schemeClr val="tx1"/>
                </a:solidFill>
              </a:rPr>
              <a:t> “</a:t>
            </a:r>
            <a:r>
              <a:rPr lang="en-US" sz="2600" b="1" dirty="0" err="1">
                <a:solidFill>
                  <a:schemeClr val="tx1"/>
                </a:solidFill>
              </a:rPr>
              <a:t>agarwal</a:t>
            </a:r>
            <a:r>
              <a:rPr lang="en-US" sz="2600" b="1" dirty="0">
                <a:solidFill>
                  <a:schemeClr val="tx1"/>
                </a:solidFill>
              </a:rPr>
              <a:t>” </a:t>
            </a:r>
            <a:r>
              <a:rPr lang="en-US" sz="2600" b="1" dirty="0" err="1">
                <a:solidFill>
                  <a:schemeClr val="tx1"/>
                </a:solidFill>
              </a:rPr>
              <a:t>emp.lst</a:t>
            </a:r>
            <a:endParaRPr lang="en-US" sz="2600" b="1" dirty="0">
              <a:solidFill>
                <a:schemeClr val="tx1"/>
              </a:solidFill>
            </a:endParaRPr>
          </a:p>
          <a:p>
            <a:r>
              <a:rPr lang="en-US" sz="2600" dirty="0" smtClean="0">
                <a:solidFill>
                  <a:schemeClr val="tx1"/>
                </a:solidFill>
              </a:rPr>
              <a:t>Deleting lines: </a:t>
            </a:r>
            <a:r>
              <a:rPr lang="en-US" sz="2600" b="1" dirty="0" smtClean="0">
                <a:solidFill>
                  <a:schemeClr val="tx1"/>
                </a:solidFill>
              </a:rPr>
              <a:t>-v </a:t>
            </a:r>
            <a:r>
              <a:rPr lang="en-US" sz="2600" dirty="0">
                <a:solidFill>
                  <a:schemeClr val="tx1"/>
                </a:solidFill>
              </a:rPr>
              <a:t>selects all the lines except those containing the pattern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	</a:t>
            </a:r>
            <a:r>
              <a:rPr lang="en-US" sz="2600" b="1" dirty="0" err="1" smtClean="0">
                <a:solidFill>
                  <a:schemeClr val="tx1"/>
                </a:solidFill>
              </a:rPr>
              <a:t>E.g</a:t>
            </a:r>
            <a:r>
              <a:rPr lang="en-US" sz="2600" b="1" dirty="0" smtClean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chemeClr val="tx1"/>
                </a:solidFill>
              </a:rPr>
              <a:t>grep</a:t>
            </a:r>
            <a:r>
              <a:rPr lang="en-US" sz="2600" b="1" dirty="0">
                <a:solidFill>
                  <a:schemeClr val="tx1"/>
                </a:solidFill>
              </a:rPr>
              <a:t> –v “</a:t>
            </a:r>
            <a:r>
              <a:rPr lang="en-US" sz="2600" b="1" dirty="0" err="1">
                <a:solidFill>
                  <a:schemeClr val="tx1"/>
                </a:solidFill>
              </a:rPr>
              <a:t>agarwal</a:t>
            </a:r>
            <a:r>
              <a:rPr lang="en-US" sz="2600" b="1" dirty="0">
                <a:solidFill>
                  <a:schemeClr val="tx1"/>
                </a:solidFill>
              </a:rPr>
              <a:t>” </a:t>
            </a:r>
            <a:r>
              <a:rPr lang="en-US" sz="2600" b="1" dirty="0" err="1">
                <a:solidFill>
                  <a:schemeClr val="tx1"/>
                </a:solidFill>
              </a:rPr>
              <a:t>emp.lst</a:t>
            </a:r>
            <a:r>
              <a:rPr lang="en-US" sz="2600" b="1" dirty="0">
                <a:solidFill>
                  <a:schemeClr val="tx1"/>
                </a:solidFill>
              </a:rPr>
              <a:t> &gt; output</a:t>
            </a:r>
          </a:p>
          <a:p>
            <a:r>
              <a:rPr lang="en-US" sz="2600" dirty="0">
                <a:solidFill>
                  <a:schemeClr val="tx1"/>
                </a:solidFill>
              </a:rPr>
              <a:t>-n display the line numbers containing </a:t>
            </a:r>
            <a:r>
              <a:rPr lang="en-US" sz="2600" dirty="0" smtClean="0">
                <a:solidFill>
                  <a:schemeClr val="tx1"/>
                </a:solidFill>
              </a:rPr>
              <a:t>pattern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	</a:t>
            </a:r>
            <a:r>
              <a:rPr lang="en-US" sz="2600" b="1" dirty="0" err="1">
                <a:solidFill>
                  <a:schemeClr val="tx1"/>
                </a:solidFill>
              </a:rPr>
              <a:t>E.g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b="1" dirty="0" err="1">
                <a:solidFill>
                  <a:schemeClr val="tx1"/>
                </a:solidFill>
              </a:rPr>
              <a:t>grep</a:t>
            </a:r>
            <a:r>
              <a:rPr lang="en-US" sz="2600" b="1" dirty="0">
                <a:solidFill>
                  <a:schemeClr val="tx1"/>
                </a:solidFill>
              </a:rPr>
              <a:t> </a:t>
            </a:r>
            <a:r>
              <a:rPr lang="en-US" sz="2600" b="1" dirty="0" smtClean="0">
                <a:solidFill>
                  <a:schemeClr val="tx1"/>
                </a:solidFill>
              </a:rPr>
              <a:t>–n </a:t>
            </a:r>
            <a:r>
              <a:rPr lang="en-US" sz="2600" b="1" dirty="0">
                <a:solidFill>
                  <a:schemeClr val="tx1"/>
                </a:solidFill>
              </a:rPr>
              <a:t>“</a:t>
            </a:r>
            <a:r>
              <a:rPr lang="en-US" sz="2600" b="1" dirty="0" err="1">
                <a:solidFill>
                  <a:schemeClr val="tx1"/>
                </a:solidFill>
              </a:rPr>
              <a:t>agarwal</a:t>
            </a:r>
            <a:r>
              <a:rPr lang="en-US" sz="2600" b="1" dirty="0">
                <a:solidFill>
                  <a:schemeClr val="tx1"/>
                </a:solidFill>
              </a:rPr>
              <a:t>” </a:t>
            </a:r>
            <a:r>
              <a:rPr lang="en-US" sz="2600" b="1" dirty="0" err="1">
                <a:solidFill>
                  <a:schemeClr val="tx1"/>
                </a:solidFill>
              </a:rPr>
              <a:t>emp.lst</a:t>
            </a:r>
            <a:endParaRPr lang="en-US" sz="2600" b="1" dirty="0">
              <a:solidFill>
                <a:schemeClr val="tx1"/>
              </a:solidFill>
            </a:endParaRPr>
          </a:p>
          <a:p>
            <a:r>
              <a:rPr lang="en-US" sz="2600" dirty="0" smtClean="0">
                <a:solidFill>
                  <a:schemeClr val="tx1"/>
                </a:solidFill>
              </a:rPr>
              <a:t>-</a:t>
            </a:r>
            <a:r>
              <a:rPr lang="en-US" sz="2600" dirty="0">
                <a:solidFill>
                  <a:schemeClr val="tx1"/>
                </a:solidFill>
              </a:rPr>
              <a:t>c counting total number of lines containing </a:t>
            </a:r>
            <a:r>
              <a:rPr lang="en-US" sz="2600" dirty="0" smtClean="0">
                <a:solidFill>
                  <a:schemeClr val="tx1"/>
                </a:solidFill>
              </a:rPr>
              <a:t>pattern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	</a:t>
            </a:r>
            <a:r>
              <a:rPr lang="en-US" sz="2600" b="1" dirty="0" err="1" smtClean="0">
                <a:solidFill>
                  <a:schemeClr val="tx1"/>
                </a:solidFill>
              </a:rPr>
              <a:t>E.g</a:t>
            </a:r>
            <a:r>
              <a:rPr lang="en-US" sz="2600" b="1" dirty="0">
                <a:solidFill>
                  <a:schemeClr val="tx1"/>
                </a:solidFill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</a:rPr>
              <a:t>grep</a:t>
            </a:r>
            <a:r>
              <a:rPr lang="en-US" sz="2600" b="1" dirty="0" smtClean="0">
                <a:solidFill>
                  <a:schemeClr val="tx1"/>
                </a:solidFill>
              </a:rPr>
              <a:t> –c “sales” </a:t>
            </a:r>
            <a:r>
              <a:rPr lang="en-US" sz="2600" b="1" dirty="0" err="1" smtClean="0">
                <a:solidFill>
                  <a:schemeClr val="tx1"/>
                </a:solidFill>
              </a:rPr>
              <a:t>emp.lst</a:t>
            </a:r>
            <a:endParaRPr lang="en-US" sz="2600" b="1" dirty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6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EDB35B-3584-46E9-89AC-832DCFB373D7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Priti</a:t>
            </a:r>
            <a:r>
              <a:rPr lang="en-US" dirty="0" smtClean="0"/>
              <a:t> Patel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6943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018476" y="1163783"/>
            <a:ext cx="9447212" cy="5504048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Options: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-l </a:t>
            </a:r>
            <a:r>
              <a:rPr lang="en-US" sz="2800" dirty="0">
                <a:solidFill>
                  <a:schemeClr val="tx1"/>
                </a:solidFill>
              </a:rPr>
              <a:t>displays only names of files containing pattern</a:t>
            </a:r>
          </a:p>
          <a:p>
            <a:pPr marL="457200" lvl="1" indent="0">
              <a:buNone/>
            </a:pPr>
            <a:r>
              <a:rPr lang="en-US" sz="2800" b="1" dirty="0" err="1">
                <a:solidFill>
                  <a:schemeClr val="tx1"/>
                </a:solidFill>
              </a:rPr>
              <a:t>E.g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grep</a:t>
            </a:r>
            <a:r>
              <a:rPr lang="en-US" sz="2800" b="1" dirty="0">
                <a:solidFill>
                  <a:schemeClr val="tx1"/>
                </a:solidFill>
              </a:rPr>
              <a:t> –l “manager” *.</a:t>
            </a:r>
            <a:r>
              <a:rPr lang="en-US" sz="2800" b="1" dirty="0" err="1">
                <a:solidFill>
                  <a:schemeClr val="tx1"/>
                </a:solidFill>
              </a:rPr>
              <a:t>lst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-e</a:t>
            </a:r>
            <a:r>
              <a:rPr lang="en-US" sz="2800" dirty="0">
                <a:solidFill>
                  <a:schemeClr val="tx1"/>
                </a:solidFill>
              </a:rPr>
              <a:t> to match multiple patterns in single command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b="1" dirty="0" err="1">
                <a:solidFill>
                  <a:schemeClr val="tx1"/>
                </a:solidFill>
              </a:rPr>
              <a:t>E.g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grep –e “Agrawal” –e </a:t>
            </a:r>
            <a:r>
              <a:rPr lang="en-US" sz="2800" b="1" dirty="0" smtClean="0">
                <a:solidFill>
                  <a:schemeClr val="tx1"/>
                </a:solidFill>
              </a:rPr>
              <a:t>“</a:t>
            </a:r>
            <a:r>
              <a:rPr lang="en-US" sz="2800" b="1" dirty="0" err="1" smtClean="0">
                <a:solidFill>
                  <a:schemeClr val="tx1"/>
                </a:solidFill>
              </a:rPr>
              <a:t>aggarawal</a:t>
            </a:r>
            <a:r>
              <a:rPr lang="en-US" sz="2800" b="1" dirty="0">
                <a:solidFill>
                  <a:schemeClr val="tx1"/>
                </a:solidFill>
              </a:rPr>
              <a:t>” –e 	“</a:t>
            </a:r>
            <a:r>
              <a:rPr lang="en-US" sz="2800" b="1" dirty="0" err="1">
                <a:solidFill>
                  <a:schemeClr val="tx1"/>
                </a:solidFill>
              </a:rPr>
              <a:t>agrawal</a:t>
            </a:r>
            <a:r>
              <a:rPr lang="en-US" sz="2800" b="1" dirty="0">
                <a:solidFill>
                  <a:schemeClr val="tx1"/>
                </a:solidFill>
              </a:rPr>
              <a:t>” </a:t>
            </a:r>
            <a:r>
              <a:rPr lang="en-US" sz="2800" b="1" dirty="0" err="1">
                <a:solidFill>
                  <a:schemeClr val="tx1"/>
                </a:solidFill>
              </a:rPr>
              <a:t>emp.lst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-f</a:t>
            </a:r>
            <a:r>
              <a:rPr lang="en-US" sz="2800" dirty="0">
                <a:solidFill>
                  <a:schemeClr val="tx1"/>
                </a:solidFill>
              </a:rPr>
              <a:t> taking pattern from a file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b="1" dirty="0" err="1">
                <a:solidFill>
                  <a:schemeClr val="tx1"/>
                </a:solidFill>
              </a:rPr>
              <a:t>E.g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grep</a:t>
            </a:r>
            <a:r>
              <a:rPr lang="en-US" sz="2800" b="1" dirty="0">
                <a:solidFill>
                  <a:schemeClr val="tx1"/>
                </a:solidFill>
              </a:rPr>
              <a:t> –f </a:t>
            </a:r>
            <a:r>
              <a:rPr lang="en-US" sz="2800" b="1" dirty="0" err="1">
                <a:solidFill>
                  <a:schemeClr val="tx1"/>
                </a:solidFill>
              </a:rPr>
              <a:t>pattern.lst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emp.lst</a:t>
            </a:r>
            <a:endParaRPr lang="en-US" sz="2800" b="1" dirty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6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1F44B0-4963-4BBE-936B-921D1F513FE4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5443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018476" y="1163783"/>
            <a:ext cx="9447212" cy="5504048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Basic Regular Expressions (BRE)</a:t>
            </a:r>
          </a:p>
          <a:p>
            <a:pPr algn="just"/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uses an expression of a different sort to match a </a:t>
            </a:r>
            <a:r>
              <a:rPr lang="en-US" sz="2800" b="1" dirty="0" smtClean="0">
                <a:solidFill>
                  <a:schemeClr val="tx1"/>
                </a:solidFill>
              </a:rPr>
              <a:t>group of similar pattern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It uses an elaborated </a:t>
            </a:r>
            <a:r>
              <a:rPr lang="en-US" sz="2800" b="1" dirty="0" smtClean="0">
                <a:solidFill>
                  <a:schemeClr val="tx1"/>
                </a:solidFill>
              </a:rPr>
              <a:t>meta character set, wild card characters and can perform amazing matches</a:t>
            </a:r>
            <a:r>
              <a:rPr lang="en-US" sz="2800" dirty="0" smtClean="0">
                <a:solidFill>
                  <a:schemeClr val="tx1"/>
                </a:solidFill>
              </a:rPr>
              <a:t>. This expression termed a </a:t>
            </a:r>
            <a:r>
              <a:rPr lang="en-US" sz="2800" b="1" i="1" dirty="0" smtClean="0">
                <a:solidFill>
                  <a:schemeClr val="tx1"/>
                </a:solidFill>
              </a:rPr>
              <a:t>regular expression.</a:t>
            </a:r>
          </a:p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Regular expression takes care of some common query and substitution requirements.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E.g</a:t>
            </a:r>
            <a:r>
              <a:rPr lang="en-US" sz="2800" dirty="0">
                <a:solidFill>
                  <a:schemeClr val="tx1"/>
                </a:solidFill>
              </a:rPr>
              <a:t> one may want to replace multiple spaces with single space or display lines that begin with ‘a’ etc</a:t>
            </a:r>
            <a:r>
              <a:rPr lang="en-US" sz="2800" dirty="0"/>
              <a:t>.</a:t>
            </a:r>
          </a:p>
          <a:p>
            <a:pPr algn="just"/>
            <a:endParaRPr lang="en-US" sz="2800" dirty="0" smtClean="0">
              <a:solidFill>
                <a:schemeClr val="tx1"/>
              </a:solidFill>
            </a:endParaRPr>
          </a:p>
          <a:p>
            <a:endParaRPr lang="en-US" sz="26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0BF2D2-E6BF-48E1-A883-04D904EDFAD3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5860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954081" y="1003070"/>
            <a:ext cx="9447212" cy="5504048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Basic Regular </a:t>
            </a:r>
            <a:r>
              <a:rPr lang="en-US" sz="2800" dirty="0" smtClean="0"/>
              <a:t>Expressions</a:t>
            </a:r>
          </a:p>
          <a:p>
            <a:pPr algn="just"/>
            <a:endParaRPr lang="en-US" sz="2800" b="1" dirty="0" smtClean="0">
              <a:solidFill>
                <a:schemeClr val="tx1"/>
              </a:solidFill>
            </a:endParaRPr>
          </a:p>
          <a:p>
            <a:endParaRPr lang="en-US" sz="2600" b="1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3F3B0B-3EFF-44F4-AFB6-758EA27E2468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54329955"/>
              </p:ext>
            </p:extLst>
          </p:nvPr>
        </p:nvGraphicFramePr>
        <p:xfrm>
          <a:off x="1897066" y="1475181"/>
          <a:ext cx="9689455" cy="508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351"/>
                <a:gridCol w="6581104"/>
              </a:tblGrid>
              <a:tr h="3456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Symbols or Expression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Matches</a:t>
                      </a:r>
                      <a:endParaRPr lang="en-US" dirty="0"/>
                    </a:p>
                  </a:txBody>
                  <a:tcPr/>
                </a:tc>
              </a:tr>
              <a:tr h="66243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*</a:t>
                      </a:r>
                    </a:p>
                    <a:p>
                      <a:pPr algn="l"/>
                      <a:r>
                        <a:rPr lang="en-US" b="1" dirty="0" smtClean="0"/>
                        <a:t>(g*)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Zero or more occurrence of previous</a:t>
                      </a:r>
                      <a:r>
                        <a:rPr lang="en-US" sz="2000" baseline="0" dirty="0" smtClean="0"/>
                        <a:t> character(nothing or g, </a:t>
                      </a:r>
                      <a:r>
                        <a:rPr lang="en-US" sz="2000" baseline="0" dirty="0" err="1" smtClean="0"/>
                        <a:t>gg</a:t>
                      </a:r>
                      <a:r>
                        <a:rPr lang="en-US" sz="2000" baseline="0" dirty="0" smtClean="0"/>
                        <a:t>, </a:t>
                      </a:r>
                      <a:r>
                        <a:rPr lang="en-US" sz="2000" baseline="0" dirty="0" err="1" smtClean="0"/>
                        <a:t>ggg</a:t>
                      </a:r>
                      <a:r>
                        <a:rPr lang="en-US" sz="2000" baseline="0" dirty="0" smtClean="0"/>
                        <a:t>, etc)</a:t>
                      </a:r>
                      <a:endParaRPr lang="en-US" sz="2000" dirty="0"/>
                    </a:p>
                  </a:txBody>
                  <a:tcPr/>
                </a:tc>
              </a:tr>
              <a:tr h="374417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A single character </a:t>
                      </a:r>
                      <a:endParaRPr lang="en-US" sz="2000" dirty="0"/>
                    </a:p>
                  </a:txBody>
                  <a:tcPr/>
                </a:tc>
              </a:tr>
              <a:tr h="374417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.*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Nothing or any number of characters</a:t>
                      </a:r>
                      <a:endParaRPr lang="en-US" sz="2000" dirty="0"/>
                    </a:p>
                  </a:txBody>
                  <a:tcPr/>
                </a:tc>
              </a:tr>
              <a:tr h="374417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[</a:t>
                      </a:r>
                      <a:r>
                        <a:rPr lang="en-US" b="1" dirty="0" err="1" smtClean="0"/>
                        <a:t>pqr</a:t>
                      </a:r>
                      <a:r>
                        <a:rPr lang="en-US" b="1" dirty="0" smtClean="0"/>
                        <a:t>]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A single character from</a:t>
                      </a:r>
                      <a:r>
                        <a:rPr lang="en-US" sz="2000" baseline="0" dirty="0" smtClean="0"/>
                        <a:t> list p, q or r</a:t>
                      </a:r>
                      <a:endParaRPr lang="en-US" sz="2000" dirty="0"/>
                    </a:p>
                  </a:txBody>
                  <a:tcPr/>
                </a:tc>
              </a:tr>
              <a:tr h="374417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[c1-c2]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Single character within</a:t>
                      </a:r>
                      <a:r>
                        <a:rPr lang="en-US" sz="2000" baseline="0" dirty="0" smtClean="0"/>
                        <a:t> the ASCII range c1 and c2</a:t>
                      </a:r>
                      <a:endParaRPr lang="en-US" sz="2000" dirty="0"/>
                    </a:p>
                  </a:txBody>
                  <a:tcPr/>
                </a:tc>
              </a:tr>
              <a:tr h="66243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[^</a:t>
                      </a:r>
                      <a:r>
                        <a:rPr lang="en-US" b="1" dirty="0" err="1" smtClean="0"/>
                        <a:t>pqr</a:t>
                      </a:r>
                      <a:r>
                        <a:rPr lang="en-US" b="1" dirty="0" smtClean="0"/>
                        <a:t>] / [^a-</a:t>
                      </a:r>
                      <a:r>
                        <a:rPr lang="en-US" b="1" dirty="0" err="1" smtClean="0"/>
                        <a:t>zA</a:t>
                      </a:r>
                      <a:r>
                        <a:rPr lang="en-US" b="1" dirty="0" smtClean="0"/>
                        <a:t>-Z]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Single character which</a:t>
                      </a:r>
                      <a:r>
                        <a:rPr lang="en-US" sz="2000" baseline="0" dirty="0" smtClean="0"/>
                        <a:t> is not a p, q or r (</a:t>
                      </a:r>
                      <a:r>
                        <a:rPr lang="en-US" sz="2000" baseline="0" dirty="0" err="1" smtClean="0"/>
                        <a:t>nonalphabetic</a:t>
                      </a:r>
                      <a:r>
                        <a:rPr lang="en-US" sz="2000" baseline="0" dirty="0" smtClean="0"/>
                        <a:t> character)</a:t>
                      </a:r>
                      <a:endParaRPr lang="en-US" sz="2000" dirty="0"/>
                    </a:p>
                  </a:txBody>
                  <a:tcPr/>
                </a:tc>
              </a:tr>
              <a:tr h="44070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^pattern (^</a:t>
                      </a:r>
                      <a:r>
                        <a:rPr lang="en-US" b="1" dirty="0" err="1" smtClean="0"/>
                        <a:t>shukla</a:t>
                      </a:r>
                      <a:r>
                        <a:rPr lang="en-US" b="1" dirty="0" smtClean="0"/>
                        <a:t>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Searches for pattern</a:t>
                      </a:r>
                      <a:r>
                        <a:rPr lang="en-US" sz="2000" baseline="0" dirty="0" smtClean="0"/>
                        <a:t> at beginning of file</a:t>
                      </a:r>
                      <a:endParaRPr lang="en-US" sz="2000" dirty="0"/>
                    </a:p>
                  </a:txBody>
                  <a:tcPr/>
                </a:tc>
              </a:tr>
              <a:tr h="374417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pattern$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Searches for</a:t>
                      </a:r>
                      <a:r>
                        <a:rPr lang="en-US" sz="2000" baseline="0" dirty="0" smtClean="0"/>
                        <a:t> pattern at end of file</a:t>
                      </a:r>
                      <a:endParaRPr lang="en-US" sz="2000" dirty="0"/>
                    </a:p>
                  </a:txBody>
                  <a:tcPr/>
                </a:tc>
              </a:tr>
              <a:tr h="44070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^pattern$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Searches Pattern as the </a:t>
                      </a:r>
                      <a:r>
                        <a:rPr lang="en-US" sz="2400" dirty="0" smtClean="0"/>
                        <a:t>only</a:t>
                      </a:r>
                      <a:r>
                        <a:rPr lang="en-US" sz="2000" dirty="0" smtClean="0"/>
                        <a:t> word in the line</a:t>
                      </a:r>
                      <a:endParaRPr lang="en-US" sz="2000" dirty="0"/>
                    </a:p>
                  </a:txBody>
                  <a:tcPr/>
                </a:tc>
              </a:tr>
              <a:tr h="44070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^$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/>
                        <a:t>Lines containing nothing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4506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954081" y="1003070"/>
            <a:ext cx="9447212" cy="535909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The Character class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A regular expression lets you to specify a group of character enclosed within a pair of rectangular brackets, [ ]; the matches is performed for any single character group.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chemeClr val="tx1"/>
                </a:solidFill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“[</a:t>
            </a:r>
            <a:r>
              <a:rPr lang="en-US" sz="2800" dirty="0" err="1" smtClean="0">
                <a:solidFill>
                  <a:schemeClr val="tx1"/>
                </a:solidFill>
              </a:rPr>
              <a:t>aA</a:t>
            </a:r>
            <a:r>
              <a:rPr lang="en-US" sz="2800" dirty="0" smtClean="0">
                <a:solidFill>
                  <a:schemeClr val="tx1"/>
                </a:solidFill>
              </a:rPr>
              <a:t>]g[</a:t>
            </a:r>
            <a:r>
              <a:rPr lang="en-US" sz="2800" dirty="0" err="1" smtClean="0">
                <a:solidFill>
                  <a:schemeClr val="tx1"/>
                </a:solidFill>
              </a:rPr>
              <a:t>ar</a:t>
            </a:r>
            <a:r>
              <a:rPr lang="en-US" sz="2800" dirty="0" smtClean="0">
                <a:solidFill>
                  <a:schemeClr val="tx1"/>
                </a:solidFill>
              </a:rPr>
              <a:t>][</a:t>
            </a:r>
            <a:r>
              <a:rPr lang="en-US" sz="2800" dirty="0" err="1" smtClean="0">
                <a:solidFill>
                  <a:schemeClr val="tx1"/>
                </a:solidFill>
              </a:rPr>
              <a:t>ar</a:t>
            </a:r>
            <a:r>
              <a:rPr lang="en-US" sz="2800" dirty="0" smtClean="0">
                <a:solidFill>
                  <a:schemeClr val="tx1"/>
                </a:solidFill>
              </a:rPr>
              <a:t>]</a:t>
            </a:r>
            <a:r>
              <a:rPr lang="en-US" sz="2800" dirty="0" err="1" smtClean="0">
                <a:solidFill>
                  <a:schemeClr val="tx1"/>
                </a:solidFill>
              </a:rPr>
              <a:t>wal</a:t>
            </a:r>
            <a:r>
              <a:rPr lang="en-US" sz="2800" dirty="0" smtClean="0">
                <a:solidFill>
                  <a:schemeClr val="tx1"/>
                </a:solidFill>
              </a:rPr>
              <a:t>” </a:t>
            </a:r>
            <a:r>
              <a:rPr lang="en-US" sz="2800" dirty="0" err="1" smtClean="0">
                <a:solidFill>
                  <a:schemeClr val="tx1"/>
                </a:solidFill>
              </a:rPr>
              <a:t>emp.lst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b="1" dirty="0" smtClean="0">
                <a:solidFill>
                  <a:schemeClr val="tx1"/>
                </a:solidFill>
              </a:rPr>
              <a:t>The *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The *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asterisk refer to the immediately preceding character.</a:t>
            </a:r>
          </a:p>
          <a:p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“[</a:t>
            </a:r>
            <a:r>
              <a:rPr lang="en-US" sz="2800" dirty="0" err="1" smtClean="0">
                <a:solidFill>
                  <a:schemeClr val="tx1"/>
                </a:solidFill>
              </a:rPr>
              <a:t>aA</a:t>
            </a:r>
            <a:r>
              <a:rPr lang="en-US" sz="2800" dirty="0" smtClean="0">
                <a:solidFill>
                  <a:schemeClr val="tx1"/>
                </a:solidFill>
              </a:rPr>
              <a:t>]</a:t>
            </a:r>
            <a:r>
              <a:rPr lang="en-US" sz="2800" dirty="0" err="1" smtClean="0">
                <a:solidFill>
                  <a:schemeClr val="tx1"/>
                </a:solidFill>
              </a:rPr>
              <a:t>gg</a:t>
            </a:r>
            <a:r>
              <a:rPr lang="en-US" sz="2800" dirty="0" smtClean="0">
                <a:solidFill>
                  <a:schemeClr val="tx1"/>
                </a:solidFill>
              </a:rPr>
              <a:t>*[</a:t>
            </a:r>
            <a:r>
              <a:rPr lang="en-US" sz="2800" dirty="0" err="1" smtClean="0">
                <a:solidFill>
                  <a:schemeClr val="tx1"/>
                </a:solidFill>
              </a:rPr>
              <a:t>ar</a:t>
            </a:r>
            <a:r>
              <a:rPr lang="en-US" sz="2800" dirty="0" smtClean="0">
                <a:solidFill>
                  <a:schemeClr val="tx1"/>
                </a:solidFill>
              </a:rPr>
              <a:t>][</a:t>
            </a:r>
            <a:r>
              <a:rPr lang="en-US" sz="2800" dirty="0" err="1" smtClean="0">
                <a:solidFill>
                  <a:schemeClr val="tx1"/>
                </a:solidFill>
              </a:rPr>
              <a:t>ar</a:t>
            </a:r>
            <a:r>
              <a:rPr lang="en-US" sz="2800" dirty="0" smtClean="0">
                <a:solidFill>
                  <a:schemeClr val="tx1"/>
                </a:solidFill>
              </a:rPr>
              <a:t>]</a:t>
            </a:r>
            <a:r>
              <a:rPr lang="en-US" sz="2800" dirty="0" err="1" smtClean="0">
                <a:solidFill>
                  <a:schemeClr val="tx1"/>
                </a:solidFill>
              </a:rPr>
              <a:t>wal</a:t>
            </a:r>
            <a:r>
              <a:rPr lang="en-US" sz="2800" dirty="0" smtClean="0">
                <a:solidFill>
                  <a:schemeClr val="tx1"/>
                </a:solidFill>
              </a:rPr>
              <a:t> “ emp.lst</a:t>
            </a:r>
          </a:p>
          <a:p>
            <a:r>
              <a:rPr lang="en-US" sz="2800" b="1" dirty="0" smtClean="0">
                <a:solidFill>
                  <a:schemeClr val="tx1"/>
                </a:solidFill>
              </a:rPr>
              <a:t>The . Dot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A . Matches only single character. 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dirty="0" smtClean="0">
                <a:solidFill>
                  <a:schemeClr val="tx1"/>
                </a:solidFill>
              </a:rPr>
              <a:t> 2….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To show only directories : </a:t>
            </a:r>
            <a:r>
              <a:rPr lang="en-US" sz="2800" b="1" dirty="0" err="1" smtClean="0">
                <a:solidFill>
                  <a:schemeClr val="tx1"/>
                </a:solidFill>
              </a:rPr>
              <a:t>ls</a:t>
            </a:r>
            <a:r>
              <a:rPr lang="en-US" sz="2800" b="1" dirty="0" smtClean="0">
                <a:solidFill>
                  <a:schemeClr val="tx1"/>
                </a:solidFill>
              </a:rPr>
              <a:t> –l |</a:t>
            </a:r>
            <a:r>
              <a:rPr lang="en-US" sz="2800" b="1" dirty="0" err="1" smtClean="0">
                <a:solidFill>
                  <a:schemeClr val="tx1"/>
                </a:solidFill>
              </a:rPr>
              <a:t>grep</a:t>
            </a:r>
            <a:r>
              <a:rPr lang="en-US" sz="2800" b="1" dirty="0" smtClean="0">
                <a:solidFill>
                  <a:schemeClr val="tx1"/>
                </a:solidFill>
              </a:rPr>
              <a:t> “^d”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7CA61A-0BA1-4055-BDED-2F4750E80ABD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5320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20900" y="357188"/>
            <a:ext cx="9433791" cy="773112"/>
          </a:xfrm>
        </p:spPr>
        <p:txBody>
          <a:bodyPr/>
          <a:lstStyle/>
          <a:p>
            <a:pPr marL="342900" lvl="2" indent="-342900" fontAlgn="auto">
              <a:spcAft>
                <a:spcPts val="0"/>
              </a:spcAft>
              <a:defRPr/>
            </a:pPr>
            <a:r>
              <a:rPr lang="en-US" b="1" kern="1200" dirty="0" smtClean="0">
                <a:latin typeface="+mj-lt"/>
                <a:ea typeface="+mj-ea"/>
                <a:cs typeface="+mj-cs"/>
              </a:rPr>
              <a:t>Filter Using Regular Expression – </a:t>
            </a:r>
            <a:r>
              <a:rPr lang="en-US" b="1" kern="1200" dirty="0" err="1" smtClean="0">
                <a:latin typeface="+mj-lt"/>
                <a:ea typeface="+mj-ea"/>
                <a:cs typeface="+mj-cs"/>
              </a:rPr>
              <a:t>grep</a:t>
            </a:r>
            <a:r>
              <a:rPr lang="en-US" b="1" kern="1200" dirty="0" smtClean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954081" y="1003070"/>
            <a:ext cx="9447212" cy="535909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Extended Regular Expressions (ERE) : </a:t>
            </a:r>
            <a:r>
              <a:rPr lang="en-US" sz="2800" dirty="0" smtClean="0">
                <a:solidFill>
                  <a:schemeClr val="tx1"/>
                </a:solidFill>
              </a:rPr>
              <a:t>Possible to match dissimilar pattern with a single expression.</a:t>
            </a:r>
          </a:p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The + and ?</a:t>
            </a:r>
          </a:p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+ : </a:t>
            </a:r>
            <a:r>
              <a:rPr lang="en-US" sz="2800" dirty="0" smtClean="0">
                <a:solidFill>
                  <a:schemeClr val="tx1"/>
                </a:solidFill>
              </a:rPr>
              <a:t>Matches one or more occurrence of previous character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dirty="0" smtClean="0"/>
              <a:t>[</a:t>
            </a:r>
            <a:r>
              <a:rPr lang="en-US" sz="2800" dirty="0" err="1" smtClean="0"/>
              <a:t>hc</a:t>
            </a:r>
            <a:r>
              <a:rPr lang="en-US" sz="2800" dirty="0" smtClean="0"/>
              <a:t>]+at" matches with "hat", "cat", "</a:t>
            </a:r>
            <a:r>
              <a:rPr lang="en-US" sz="2800" dirty="0" err="1" smtClean="0"/>
              <a:t>hhat</a:t>
            </a:r>
            <a:r>
              <a:rPr lang="en-US" sz="2800" dirty="0" smtClean="0"/>
              <a:t>", "chat", "</a:t>
            </a:r>
            <a:r>
              <a:rPr lang="en-US" sz="2800" dirty="0" err="1" smtClean="0"/>
              <a:t>hcat</a:t>
            </a:r>
            <a:r>
              <a:rPr lang="en-US" sz="2800" dirty="0" smtClean="0"/>
              <a:t>", "</a:t>
            </a:r>
            <a:r>
              <a:rPr lang="en-US" sz="2800" dirty="0" err="1" smtClean="0"/>
              <a:t>ccchat</a:t>
            </a:r>
            <a:r>
              <a:rPr lang="en-US" sz="2800" dirty="0" smtClean="0"/>
              <a:t>" etc.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? : </a:t>
            </a:r>
            <a:r>
              <a:rPr lang="en-US" sz="2800" dirty="0" smtClean="0">
                <a:solidFill>
                  <a:schemeClr val="tx1"/>
                </a:solidFill>
              </a:rPr>
              <a:t>Matches zero or one occurrence of previous  character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b="1" dirty="0" err="1" smtClean="0">
                <a:solidFill>
                  <a:schemeClr val="tx1"/>
                </a:solidFill>
              </a:rPr>
              <a:t>E.g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grep</a:t>
            </a:r>
            <a:r>
              <a:rPr lang="en-US" sz="2800" dirty="0" smtClean="0">
                <a:solidFill>
                  <a:schemeClr val="tx1"/>
                </a:solidFill>
              </a:rPr>
              <a:t> –E “[</a:t>
            </a:r>
            <a:r>
              <a:rPr lang="en-US" sz="2800" dirty="0" err="1" smtClean="0">
                <a:solidFill>
                  <a:schemeClr val="tx1"/>
                </a:solidFill>
              </a:rPr>
              <a:t>aA</a:t>
            </a:r>
            <a:r>
              <a:rPr lang="en-US" sz="2800" dirty="0" smtClean="0">
                <a:solidFill>
                  <a:schemeClr val="tx1"/>
                </a:solidFill>
              </a:rPr>
              <a:t>]</a:t>
            </a:r>
            <a:r>
              <a:rPr lang="en-US" sz="2800" dirty="0" err="1" smtClean="0">
                <a:solidFill>
                  <a:schemeClr val="tx1"/>
                </a:solidFill>
              </a:rPr>
              <a:t>gg?arwal</a:t>
            </a:r>
            <a:r>
              <a:rPr lang="en-US" sz="2800" dirty="0" smtClean="0">
                <a:solidFill>
                  <a:schemeClr val="tx1"/>
                </a:solidFill>
              </a:rPr>
              <a:t>” emp.lst</a:t>
            </a:r>
          </a:p>
          <a:p>
            <a:pPr algn="just"/>
            <a:r>
              <a:rPr lang="en-US" sz="2800" b="1" dirty="0" smtClean="0">
                <a:solidFill>
                  <a:schemeClr val="tx1"/>
                </a:solidFill>
              </a:rPr>
              <a:t>Matching multiple pattern (|, ( and ))</a:t>
            </a:r>
          </a:p>
          <a:p>
            <a:pPr marL="457200" lvl="1" indent="0" algn="just">
              <a:buNone/>
            </a:pPr>
            <a:r>
              <a:rPr lang="en-US" sz="2600" b="1" dirty="0" err="1" smtClean="0">
                <a:solidFill>
                  <a:schemeClr val="tx1"/>
                </a:solidFill>
              </a:rPr>
              <a:t>E.g</a:t>
            </a:r>
            <a:r>
              <a:rPr lang="en-US" sz="2600" b="1" dirty="0" smtClean="0">
                <a:solidFill>
                  <a:schemeClr val="tx1"/>
                </a:solidFill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</a:rPr>
              <a:t>grep</a:t>
            </a:r>
            <a:r>
              <a:rPr lang="en-US" sz="2600" dirty="0" smtClean="0">
                <a:solidFill>
                  <a:schemeClr val="tx1"/>
                </a:solidFill>
              </a:rPr>
              <a:t> –E ‘</a:t>
            </a:r>
            <a:r>
              <a:rPr lang="en-US" sz="2600" dirty="0" err="1" smtClean="0">
                <a:solidFill>
                  <a:schemeClr val="tx1"/>
                </a:solidFill>
              </a:rPr>
              <a:t>sengupta</a:t>
            </a:r>
            <a:r>
              <a:rPr lang="en-US" sz="2600" dirty="0" smtClean="0">
                <a:solidFill>
                  <a:schemeClr val="tx1"/>
                </a:solidFill>
              </a:rPr>
              <a:t> | </a:t>
            </a:r>
            <a:r>
              <a:rPr lang="en-US" sz="2600" dirty="0" err="1" smtClean="0">
                <a:solidFill>
                  <a:schemeClr val="tx1"/>
                </a:solidFill>
              </a:rPr>
              <a:t>dasgupta</a:t>
            </a:r>
            <a:r>
              <a:rPr lang="en-US" sz="2600" dirty="0" smtClean="0">
                <a:solidFill>
                  <a:schemeClr val="tx1"/>
                </a:solidFill>
              </a:rPr>
              <a:t>’ emp.lst</a:t>
            </a:r>
          </a:p>
          <a:p>
            <a:pPr marL="457200" lvl="1" indent="0" algn="just">
              <a:buNone/>
            </a:pPr>
            <a:r>
              <a:rPr lang="en-US" sz="2600" b="1" dirty="0" err="1" smtClean="0">
                <a:solidFill>
                  <a:schemeClr val="tx1"/>
                </a:solidFill>
              </a:rPr>
              <a:t>E.g</a:t>
            </a:r>
            <a:r>
              <a:rPr lang="en-US" sz="2600" b="1" dirty="0" smtClean="0">
                <a:solidFill>
                  <a:schemeClr val="tx1"/>
                </a:solidFill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</a:rPr>
              <a:t>grep</a:t>
            </a:r>
            <a:r>
              <a:rPr lang="en-US" sz="2600" dirty="0" smtClean="0">
                <a:solidFill>
                  <a:schemeClr val="tx1"/>
                </a:solidFill>
              </a:rPr>
              <a:t> –E ‘(</a:t>
            </a:r>
            <a:r>
              <a:rPr lang="en-US" sz="2600" dirty="0" err="1" smtClean="0">
                <a:solidFill>
                  <a:schemeClr val="tx1"/>
                </a:solidFill>
              </a:rPr>
              <a:t>sen</a:t>
            </a:r>
            <a:r>
              <a:rPr lang="en-US" sz="2600" dirty="0" smtClean="0">
                <a:solidFill>
                  <a:schemeClr val="tx1"/>
                </a:solidFill>
              </a:rPr>
              <a:t> | das)</a:t>
            </a:r>
            <a:r>
              <a:rPr lang="en-US" sz="2600" dirty="0" err="1" smtClean="0">
                <a:solidFill>
                  <a:schemeClr val="tx1"/>
                </a:solidFill>
              </a:rPr>
              <a:t>gupta</a:t>
            </a:r>
            <a:r>
              <a:rPr lang="en-US" sz="2600" dirty="0" smtClean="0">
                <a:solidFill>
                  <a:schemeClr val="tx1"/>
                </a:solidFill>
              </a:rPr>
              <a:t>’ emp.lst</a:t>
            </a:r>
          </a:p>
          <a:p>
            <a:pPr algn="just"/>
            <a:endParaRPr lang="en-US" sz="2800" b="1" dirty="0" smtClean="0">
              <a:solidFill>
                <a:schemeClr val="tx1"/>
              </a:solidFill>
            </a:endParaRPr>
          </a:p>
          <a:p>
            <a:pPr algn="just"/>
            <a:endParaRPr lang="en-US" sz="2800" b="1" dirty="0" smtClean="0">
              <a:solidFill>
                <a:schemeClr val="tx1"/>
              </a:solidFill>
            </a:endParaRPr>
          </a:p>
          <a:p>
            <a:pPr algn="just"/>
            <a:endParaRPr lang="en-US" sz="2800" b="1" dirty="0" smtClean="0">
              <a:solidFill>
                <a:schemeClr val="tx1"/>
              </a:solidFill>
            </a:endParaRPr>
          </a:p>
          <a:p>
            <a:pPr algn="just"/>
            <a:endParaRPr lang="en-US" sz="2800" b="1" dirty="0" smtClean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A17F77-41FE-4488-BBEA-2C2884965036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1784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Grep</a:t>
            </a:r>
            <a:r>
              <a:rPr lang="en-US" dirty="0" smtClean="0"/>
              <a:t> from a input file</a:t>
            </a:r>
          </a:p>
          <a:p>
            <a:r>
              <a:rPr lang="en-US" dirty="0" smtClean="0"/>
              <a:t>Create a file named pattern.txt contains</a:t>
            </a:r>
          </a:p>
          <a:p>
            <a:pPr>
              <a:buNone/>
            </a:pPr>
            <a:r>
              <a:rPr lang="en-US" dirty="0" err="1" smtClean="0"/>
              <a:t>sachin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err="1" smtClean="0"/>
              <a:t>Mayank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grep</a:t>
            </a:r>
            <a:r>
              <a:rPr lang="en-US" dirty="0" smtClean="0"/>
              <a:t> -</a:t>
            </a:r>
            <a:r>
              <a:rPr lang="en-US" smtClean="0"/>
              <a:t>f pattern.txt </a:t>
            </a:r>
            <a:r>
              <a:rPr lang="en-US" dirty="0" smtClean="0"/>
              <a:t>emp.txt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4F5C6B-329D-4149-8673-760C5570B2C0}" type="datetime1">
              <a:rPr lang="en-US" smtClean="0"/>
              <a:pPr>
                <a:defRPr/>
              </a:pPr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Priti Patel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3667</TotalTime>
  <Words>447</Words>
  <Application>Microsoft Office PowerPoint</Application>
  <PresentationFormat>Custom</PresentationFormat>
  <Paragraphs>137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Unix Shell Programming</vt:lpstr>
      <vt:lpstr>Outline</vt:lpstr>
      <vt:lpstr>Filter Using Regular Expression – grep </vt:lpstr>
      <vt:lpstr>Filter Using Regular Expression – grep </vt:lpstr>
      <vt:lpstr>Filter Using Regular Expression – grep </vt:lpstr>
      <vt:lpstr>Filter Using Regular Expression – grep </vt:lpstr>
      <vt:lpstr>Filter Using Regular Expression – grep </vt:lpstr>
      <vt:lpstr>Filter Using Regular Expression – grep </vt:lpstr>
      <vt:lpstr>Filter Using Regular Expression – grep 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Programming</dc:title>
  <dc:creator>Khushbu</dc:creator>
  <cp:lastModifiedBy>nikunj</cp:lastModifiedBy>
  <cp:revision>492</cp:revision>
  <dcterms:created xsi:type="dcterms:W3CDTF">2015-06-30T17:45:43Z</dcterms:created>
  <dcterms:modified xsi:type="dcterms:W3CDTF">2024-09-17T05:34:36Z</dcterms:modified>
</cp:coreProperties>
</file>